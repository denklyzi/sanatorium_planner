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4"/>
    <p:sldMasterId id="2147483670" r:id="rId5"/>
  </p:sldMasterIdLst>
  <p:notesMasterIdLst>
    <p:notesMasterId r:id="rId6"/>
  </p:notesMasterIdLst>
  <p:sldIdLst>
    <p:sldId id="276" r:id="rId46"/>
    <p:sldId id="270" r:id="rId21"/>
    <p:sldId id="271" r:id="rId81"/>
    <p:sldId id="272" r:id="rId82"/>
    <p:sldId id="273" r:id="rId83"/>
    <p:sldId id="274" r:id="rId84"/>
    <p:sldId id="275" r:id="rId85"/>
  </p:sldIdLst>
  <p:sldSz cy="5143500" cx="9144000"/>
  <p:notesSz cx="6858000" cy="9144000"/>
  <p:embeddedFontLst>
    <p:embeddedFont>
      <p:font typeface="Proxima Nova"/>
      <p:regular r:id="rId47"/>
      <p:bold r:id="rId48"/>
      <p:italic r:id="rId49"/>
      <p:boldItalic r:id="rId50"/>
    </p:embeddedFont>
    <p:embeddedFont>
      <p:font typeface="Roboto Medium"/>
      <p:regular r:id="rId51"/>
      <p:bold r:id="rId52"/>
      <p:italic r:id="rId53"/>
      <p:boldItalic r:id="rId54"/>
    </p:embeddedFont>
    <p:embeddedFont>
      <p:font typeface="Arimo"/>
      <p:regular r:id="rId55"/>
      <p:bold r:id="rId56"/>
      <p:italic r:id="rId57"/>
      <p:boldItalic r:id="rId58"/>
    </p:embeddedFont>
    <p:embeddedFont>
      <p:font typeface="Amatic SC"/>
      <p:regular r:id="rId59"/>
      <p:bold r:id="rId60"/>
    </p:embeddedFont>
    <p:embeddedFont>
      <p:font typeface="Lato"/>
      <p:regular r:id="rId61"/>
      <p:bold r:id="rId62"/>
      <p:italic r:id="rId63"/>
      <p:boldItalic r:id="rId64"/>
    </p:embeddedFont>
    <p:embeddedFont>
      <p:font typeface="Proxima Nova Semibold"/>
      <p:regular r:id="rId65"/>
      <p:bold r:id="rId66"/>
      <p:boldItalic r:id="rId67"/>
    </p:embeddedFont>
    <p:embeddedFont>
      <p:font typeface="Arimo Medium"/>
      <p:regular r:id="rId68"/>
      <p:bold r:id="rId69"/>
      <p:italic r:id="rId70"/>
      <p:boldItalic r:id="rId71"/>
    </p:embeddedFont>
    <p:embeddedFont>
      <p:font typeface="Kodchasan Medium"/>
      <p:regular r:id="rId72"/>
      <p:bold r:id="rId73"/>
      <p:italic r:id="rId74"/>
      <p:boldItalic r:id="rId75"/>
    </p:embeddedFont>
    <p:embeddedFont>
      <p:font typeface="Koulen"/>
      <p:regular r:id="rId76"/>
    </p:embeddedFont>
    <p:embeddedFont>
      <p:font typeface="Archivo"/>
      <p:regular r:id="rId77"/>
      <p:bold r:id="rId78"/>
      <p:italic r:id="rId79"/>
      <p:boldItalic r:id="rId8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09DC0E3-6088-4911-B5D4-E651192DD0A2}">
  <a:tblStyle styleId="{A09DC0E3-6088-4911-B5D4-E651192DD0A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1" Type="http://schemas.openxmlformats.org/officeDocument/2006/relationships/slide" Target="slides/slide2.xml"/><Relationship Id="rId46" Type="http://schemas.openxmlformats.org/officeDocument/2006/relationships/slide" Target="slides/slide1.xml"/><Relationship Id="rId47" Type="http://schemas.openxmlformats.org/officeDocument/2006/relationships/font" Target="fonts/ProximaNova-regular.fntdata"/><Relationship Id="rId48" Type="http://schemas.openxmlformats.org/officeDocument/2006/relationships/font" Target="fonts/ProximaNova-bold.fntdata"/><Relationship Id="rId49" Type="http://schemas.openxmlformats.org/officeDocument/2006/relationships/font" Target="fonts/ProximaNova-italic.fntdata"/><Relationship Id="rId50" Type="http://schemas.openxmlformats.org/officeDocument/2006/relationships/font" Target="fonts/ProximaNova-boldItalic.fntdata"/><Relationship Id="rId51" Type="http://schemas.openxmlformats.org/officeDocument/2006/relationships/font" Target="fonts/RobotoMedium-regular.fntdata"/><Relationship Id="rId52" Type="http://schemas.openxmlformats.org/officeDocument/2006/relationships/font" Target="fonts/RobotoMedium-bold.fntdata"/><Relationship Id="rId53" Type="http://schemas.openxmlformats.org/officeDocument/2006/relationships/font" Target="fonts/RobotoMedium-italic.fntdata"/><Relationship Id="rId54" Type="http://schemas.openxmlformats.org/officeDocument/2006/relationships/font" Target="fonts/RobotoMedium-boldItalic.fntdata"/><Relationship Id="rId55" Type="http://schemas.openxmlformats.org/officeDocument/2006/relationships/font" Target="fonts/Arimo-regular.fntdata"/><Relationship Id="rId56" Type="http://schemas.openxmlformats.org/officeDocument/2006/relationships/font" Target="fonts/Arimo-bold.fntdata"/><Relationship Id="rId57" Type="http://schemas.openxmlformats.org/officeDocument/2006/relationships/font" Target="fonts/Arimo-italic.fntdata"/><Relationship Id="rId58" Type="http://schemas.openxmlformats.org/officeDocument/2006/relationships/font" Target="fonts/Arimo-boldItalic.fntdata"/><Relationship Id="rId59" Type="http://schemas.openxmlformats.org/officeDocument/2006/relationships/font" Target="fonts/AmaticSC-regular.fntdata"/><Relationship Id="rId60" Type="http://schemas.openxmlformats.org/officeDocument/2006/relationships/font" Target="fonts/AmaticSC-bold.fntdata"/><Relationship Id="rId61" Type="http://schemas.openxmlformats.org/officeDocument/2006/relationships/font" Target="fonts/Lato-regular.fntdata"/><Relationship Id="rId62" Type="http://schemas.openxmlformats.org/officeDocument/2006/relationships/font" Target="fonts/Lato-bold.fntdata"/><Relationship Id="rId63" Type="http://schemas.openxmlformats.org/officeDocument/2006/relationships/font" Target="fonts/Lato-italic.fntdata"/><Relationship Id="rId64" Type="http://schemas.openxmlformats.org/officeDocument/2006/relationships/font" Target="fonts/Lato-boldItalic.fntdata"/><Relationship Id="rId65" Type="http://schemas.openxmlformats.org/officeDocument/2006/relationships/font" Target="fonts/ProximaNovaSemibold-regular.fntdata"/><Relationship Id="rId66" Type="http://schemas.openxmlformats.org/officeDocument/2006/relationships/font" Target="fonts/ProximaNovaSemibold-bold.fntdata"/><Relationship Id="rId67" Type="http://schemas.openxmlformats.org/officeDocument/2006/relationships/font" Target="fonts/ProximaNovaSemibold-boldItalic.fntdata"/><Relationship Id="rId68" Type="http://schemas.openxmlformats.org/officeDocument/2006/relationships/font" Target="fonts/ArimoMedium-regular.fntdata"/><Relationship Id="rId69" Type="http://schemas.openxmlformats.org/officeDocument/2006/relationships/font" Target="fonts/ArimoMedium-bold.fntdata"/><Relationship Id="rId70" Type="http://schemas.openxmlformats.org/officeDocument/2006/relationships/font" Target="fonts/ArimoMedium-italic.fntdata"/><Relationship Id="rId71" Type="http://schemas.openxmlformats.org/officeDocument/2006/relationships/font" Target="fonts/ArimoMedium-boldItalic.fntdata"/><Relationship Id="rId72" Type="http://schemas.openxmlformats.org/officeDocument/2006/relationships/font" Target="fonts/KodchasanMedium-regular.fntdata"/><Relationship Id="rId73" Type="http://schemas.openxmlformats.org/officeDocument/2006/relationships/font" Target="fonts/KodchasanMedium-bold.fntdata"/><Relationship Id="rId74" Type="http://schemas.openxmlformats.org/officeDocument/2006/relationships/font" Target="fonts/KodchasanMedium-italic.fntdata"/><Relationship Id="rId75" Type="http://schemas.openxmlformats.org/officeDocument/2006/relationships/font" Target="fonts/KodchasanMedium-boldItalic.fntdata"/><Relationship Id="rId76" Type="http://schemas.openxmlformats.org/officeDocument/2006/relationships/font" Target="fonts/Koulen-regular.fntdata"/><Relationship Id="rId77" Type="http://schemas.openxmlformats.org/officeDocument/2006/relationships/font" Target="fonts/Archivo-regular.fntdata"/><Relationship Id="rId78" Type="http://schemas.openxmlformats.org/officeDocument/2006/relationships/font" Target="fonts/Archivo-bold.fntdata"/><Relationship Id="rId79" Type="http://schemas.openxmlformats.org/officeDocument/2006/relationships/font" Target="fonts/Archivo-italic.fntdata"/><Relationship Id="rId80" Type="http://schemas.openxmlformats.org/officeDocument/2006/relationships/font" Target="fonts/Archivo-boldItalic.fntdata"/><Relationship Id="rId81" Type="http://schemas.openxmlformats.org/officeDocument/2006/relationships/slide" Target="slides/slide3.xml"/><Relationship Id="rId82" Type="http://schemas.openxmlformats.org/officeDocument/2006/relationships/slide" Target="slides/slide4.xml"/><Relationship Id="rId83" Type="http://schemas.openxmlformats.org/officeDocument/2006/relationships/slide" Target="slides/slide5.xml"/><Relationship Id="rId84" Type="http://schemas.openxmlformats.org/officeDocument/2006/relationships/slide" Target="slides/slide6.xml"/><Relationship Id="rId85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1:10–2:00</a:t>
            </a:r>
          </a:p>
          <a:p/>
          <a:p>
            <a:r>
              <a:t>Решение — веб-приложение на Django из трёх частей: каталог, подбор и личные планы. Гость регистрируется и входит: поиск и маршруты открыты только после входа. В форме он задаёт бюджет за сутки, регион, свободный текст, желаемые процедуры и экскурсии. Фильтр снимает площадку, если минимальная цена выше бюджета. Регион ищется в адресе, буквы е и ё считаются одним знаком. Пустой регион фильтр не режет: остаются все площадки в бюджете. Смысл текста сравнивают эмбеддинги, вектор площадки кэшируется по хешу текста. Пояснение и текст маршрута пишет языковая модель через OpenRouter. Сезон и доступность для маломобильных хранятся у площадки и включаются отдельными аргументами подбора. База — SQLite.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2:00–2:50</a:t>
            </a:r>
          </a:p>
          <a:p/>
          <a:p>
            <a:r>
              <a:t>Подбор идёт в четыре шага, слева направо. Первый шаг — предпочтения: бюджет, регион, процедуры и экскурсии. Второй — фильтр по цене за сутки и по адресу. Сезон и маломобильность отсекают площадки только если их передали явно. Третий шаг — эмбеддинги. В вектор входят название учреждения, профиль лечения, описание, адрес, процедуры и экскурсии. Цена, транспорт и рейтинг остаются отдельными весами: похожесть ноль сорок пять, процедуры ноль двадцать, экскурсии, транспорт и цена по ноль десять, рейтинг ноль ноль пять. Порог — ноль пятнадцать. В выдаче не больше пяти площадок. Четвёртый шаг — OpenRouter: пояснение из трёх–шести предложений и по кнопке текст маршрута. Кэш хранит готовый вектор.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2:50–3:40</a:t>
            </a:r>
          </a:p>
          <a:p/>
          <a:p>
            <a:r>
              <a:t>Учреждение и площадка — разные объекты. У учреждения уникальное имя, одно описание и один профиль лечения. Площадок у него может быть несколько: уникальна пара из учреждения и адреса. Площадки правятся внутри карточки учреждения. На схеме санаторий Борок, профиль — сердечно-сосудистые заболевания. Первый корпус в посёлке Борок: транспорт четыре, цена от трёх тысяч двухсот до восьми тысяч девятисот рублей, кардиопроцедуры и прогулка по Оке. Второй корпус: транспорт три, от двух тысяч восьмисот до семи тысяч двухсот, лечебная физкультура и парк. Оба работают круглый год и доступны маломобильным. Рейтинги — четыре и три. Координаты уходят на карту Яндекса и в оценку не входят. Смотрите схему.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3:40–4:30</a:t>
            </a:r>
          </a:p>
          <a:p/>
          <a:p>
            <a:r>
              <a:t>Демонстрация идёт на каталоге Калужской области. В файле двадцать пять площадок и двадцать учреждений. У пяти учреждений по два адреса. Одинаковое имя собирает корпуса в одно учреждение. Кроме Борка на слайде санаторий Угловское: лечебный корпус от двух тысяч девятисот рублей и домик в лесу от четырёх тысяч пятисот, уже без условий для маломобильных. Санаторий Ока делит обычный корпус и VIP-корпус, цены у них разные. Гость выбирает площадку внутри учреждения, а не одну общую вывеску. В пустые рамки справа вставляются два скриншота: форма поиска и страница выдачи. На выдаче видны карта, цена, транспорт, процедуры, экскурсии, пояснение модели и кнопка собрать план.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4:30–5:20</a:t>
            </a:r>
          </a:p>
          <a:p/>
          <a:p>
            <a:r>
              <a:t>Система закрывает процедуры, экскурсии, локацию, транспорт и цену за сутки. Площадки одного учреждения остаются разными карточками. Сезон и доступность фильтруют выдачу, когда их передали в подбор. Рейтинг от нуля до пяти входит в оценку с весом ноль ноль пять. Стек короткий: Django, фильтры, эмбеддинги и языковая модель через OpenRouter. Гость получает не больше пяти площадок и сохраняет текст маршрута только для себя. Пояснение прямо называет пробел по бюджету, региону, процедуре или экскурсии. Просьба к комиссии: откройте форму, поставьте бюджет восемь тысяч и регион Калужская. У санатория Борок в выдаче должны быть два адреса и две разные цены за одни сутки.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0:00–0:20</a:t>
            </a:r>
          </a:p>
          <a:p/>
          <a:p>
            <a:r>
              <a:t>Планировщик санаториев — информационная система интеллектуального подбора и планирования курортно-санаторного отдыха. Гость задаёт бюджет за сутки и пожелания. Система оставляет подходящие площадки и собирает текст маршрута. Дальше покажу, как устроен подбор и чем площадка отличается от учреждения.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a6ca4a4e36_1_1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a6ca4a4e36_1_1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0:20–1:10</a:t>
            </a:r>
          </a:p>
          <a:p/>
          <a:p>
            <a:r>
              <a:t>Каталог санаториев уже открыт, но поездку гость собирает сам. У одного учреждения несколько корпусов, и у каждого свои адрес, цена, процедуры и экскурсии. Эти сведения лежат на разных страницах. Бюджет за сутки легко смешать с ценой всей путёвки, а дорогу оценивают на глаз. Отдельной цены процедур в каталоге нет: сравнивается проживание за сутки. Задание просит закрыть шесть пунктов: процедуры, экскурсии, локацию и транспорт, стоимость, несколько площадок одного учреждения и свои параметры. Своими параметрами мы взяли сезон, доступность для маломобильных и рейтинг. Система оставляет только те площадки, которые проходят порог, и коротко объясняет, почему они подошли. Сводной таблицы у гостя нет.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/>
          <p:nvPr/>
        </p:nvSpPr>
        <p:spPr>
          <a:xfrm>
            <a:off x="138000" y="105900"/>
            <a:ext cx="8868000" cy="49317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1652550" y="1884313"/>
            <a:ext cx="5838900" cy="10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000">
                <a:latin typeface="Koulen"/>
                <a:ea typeface="Koulen"/>
                <a:cs typeface="Koulen"/>
                <a:sym typeface="Koule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652550" y="2847588"/>
            <a:ext cx="5838900" cy="4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138000" y="105900"/>
            <a:ext cx="8868000" cy="49317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2979750" y="3159313"/>
            <a:ext cx="31845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2104650" y="2250425"/>
            <a:ext cx="4934700" cy="92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53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hasCustomPrompt="1" idx="2" type="title"/>
          </p:nvPr>
        </p:nvSpPr>
        <p:spPr>
          <a:xfrm>
            <a:off x="3646350" y="1295375"/>
            <a:ext cx="1851300" cy="10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900"/>
              <a:buNone/>
              <a:defRPr sz="6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900"/>
              <a:buNone/>
              <a:defRPr sz="89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900"/>
              <a:buNone/>
              <a:defRPr sz="89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900"/>
              <a:buNone/>
              <a:defRPr sz="89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900"/>
              <a:buNone/>
              <a:defRPr sz="89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900"/>
              <a:buNone/>
              <a:defRPr sz="89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900"/>
              <a:buNone/>
              <a:defRPr sz="89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900"/>
              <a:buNone/>
              <a:defRPr sz="89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900"/>
              <a:buNone/>
              <a:defRPr sz="89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/>
          <p:nvPr/>
        </p:nvSpPr>
        <p:spPr>
          <a:xfrm>
            <a:off x="138000" y="105900"/>
            <a:ext cx="8868000" cy="49317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713225" y="1152475"/>
            <a:ext cx="7717800" cy="17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Didact Gothic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Didact Gothic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Didact Gothic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Didact Gothic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Didact Gothic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Didact Gothic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Didact Gothic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Didact Gothic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Didact Gothic"/>
              <a:buChar char="■"/>
              <a:defRPr/>
            </a:lvl9pPr>
          </a:lstStyle>
          <a:p/>
        </p:txBody>
      </p:sp>
      <p:sp>
        <p:nvSpPr>
          <p:cNvPr id="24" name="Google Shape;24;p4"/>
          <p:cNvSpPr/>
          <p:nvPr/>
        </p:nvSpPr>
        <p:spPr>
          <a:xfrm rot="4432644">
            <a:off x="-504074" y="3659582"/>
            <a:ext cx="2197694" cy="2146009"/>
          </a:xfrm>
          <a:custGeom>
            <a:rect b="b" l="l" r="r" t="t"/>
            <a:pathLst>
              <a:path extrusionOk="0" h="2147506" w="2199227">
                <a:moveTo>
                  <a:pt x="2199227" y="0"/>
                </a:moveTo>
                <a:cubicBezTo>
                  <a:pt x="1773555" y="210312"/>
                  <a:pt x="1306544" y="281273"/>
                  <a:pt x="913924" y="600647"/>
                </a:cubicBezTo>
                <a:cubicBezTo>
                  <a:pt x="239173" y="1149382"/>
                  <a:pt x="311753" y="1655826"/>
                  <a:pt x="0" y="2147507"/>
                </a:cubicBezTo>
              </a:path>
            </a:pathLst>
          </a:custGeom>
          <a:noFill/>
          <a:ln cap="flat" cmpd="sng" w="38100">
            <a:solidFill>
              <a:schemeClr val="lt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/>
          <p:nvPr/>
        </p:nvSpPr>
        <p:spPr>
          <a:xfrm>
            <a:off x="138000" y="105900"/>
            <a:ext cx="8868000" cy="49317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/>
          <p:nvPr/>
        </p:nvSpPr>
        <p:spPr>
          <a:xfrm rot="-2700000">
            <a:off x="-2681613" y="-1549908"/>
            <a:ext cx="6922045" cy="1850423"/>
          </a:xfrm>
          <a:custGeom>
            <a:rect b="b" l="l" r="r" t="t"/>
            <a:pathLst>
              <a:path extrusionOk="0" h="1849395" w="6918198">
                <a:moveTo>
                  <a:pt x="0" y="177784"/>
                </a:moveTo>
                <a:cubicBezTo>
                  <a:pt x="100203" y="107299"/>
                  <a:pt x="223456" y="52721"/>
                  <a:pt x="373190" y="27098"/>
                </a:cubicBezTo>
                <a:cubicBezTo>
                  <a:pt x="1479137" y="-161782"/>
                  <a:pt x="1810417" y="687371"/>
                  <a:pt x="1869472" y="1007316"/>
                </a:cubicBezTo>
                <a:cubicBezTo>
                  <a:pt x="1925193" y="1309163"/>
                  <a:pt x="2187416" y="1730549"/>
                  <a:pt x="2484311" y="1808273"/>
                </a:cubicBezTo>
                <a:cubicBezTo>
                  <a:pt x="2807970" y="1892951"/>
                  <a:pt x="3302413" y="1843421"/>
                  <a:pt x="3600450" y="1691306"/>
                </a:cubicBezTo>
                <a:cubicBezTo>
                  <a:pt x="4213860" y="1378315"/>
                  <a:pt x="4601242" y="500491"/>
                  <a:pt x="5218177" y="194453"/>
                </a:cubicBezTo>
                <a:cubicBezTo>
                  <a:pt x="5729002" y="-58912"/>
                  <a:pt x="6471762" y="-12621"/>
                  <a:pt x="6918198" y="239887"/>
                </a:cubicBezTo>
              </a:path>
            </a:pathLst>
          </a:custGeom>
          <a:noFill/>
          <a:ln cap="flat" cmpd="sng" w="38100">
            <a:solidFill>
              <a:schemeClr val="lt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 flipH="1" rot="632058">
            <a:off x="7798828" y="3988479"/>
            <a:ext cx="3065068" cy="3438995"/>
          </a:xfrm>
          <a:custGeom>
            <a:rect b="b" l="l" r="r" t="t"/>
            <a:pathLst>
              <a:path extrusionOk="0" h="2566249" w="2287217">
                <a:moveTo>
                  <a:pt x="1719929" y="2566250"/>
                </a:moveTo>
                <a:cubicBezTo>
                  <a:pt x="1628204" y="2188012"/>
                  <a:pt x="1862900" y="1824633"/>
                  <a:pt x="2067592" y="1544693"/>
                </a:cubicBezTo>
                <a:cubicBezTo>
                  <a:pt x="2982278" y="294156"/>
                  <a:pt x="794480" y="-477464"/>
                  <a:pt x="0" y="332923"/>
                </a:cubicBezTo>
              </a:path>
            </a:pathLst>
          </a:custGeom>
          <a:noFill/>
          <a:ln cap="flat" cmpd="sng" w="38100">
            <a:solidFill>
              <a:schemeClr val="lt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6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6"/>
          <p:cNvSpPr/>
          <p:nvPr/>
        </p:nvSpPr>
        <p:spPr>
          <a:xfrm>
            <a:off x="138000" y="105900"/>
            <a:ext cx="8868000" cy="49317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7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7"/>
          <p:cNvSpPr/>
          <p:nvPr/>
        </p:nvSpPr>
        <p:spPr>
          <a:xfrm>
            <a:off x="138000" y="105900"/>
            <a:ext cx="8868000" cy="49317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7"/>
          <p:cNvSpPr/>
          <p:nvPr/>
        </p:nvSpPr>
        <p:spPr>
          <a:xfrm rot="-1146859">
            <a:off x="-1745502" y="-1259122"/>
            <a:ext cx="6919171" cy="1849655"/>
          </a:xfrm>
          <a:custGeom>
            <a:rect b="b" l="l" r="r" t="t"/>
            <a:pathLst>
              <a:path extrusionOk="0" h="1849395" w="6918198">
                <a:moveTo>
                  <a:pt x="0" y="177784"/>
                </a:moveTo>
                <a:cubicBezTo>
                  <a:pt x="100203" y="107299"/>
                  <a:pt x="223456" y="52721"/>
                  <a:pt x="373190" y="27098"/>
                </a:cubicBezTo>
                <a:cubicBezTo>
                  <a:pt x="1479137" y="-161782"/>
                  <a:pt x="1810417" y="687371"/>
                  <a:pt x="1869472" y="1007316"/>
                </a:cubicBezTo>
                <a:cubicBezTo>
                  <a:pt x="1925193" y="1309163"/>
                  <a:pt x="2187416" y="1730549"/>
                  <a:pt x="2484311" y="1808273"/>
                </a:cubicBezTo>
                <a:cubicBezTo>
                  <a:pt x="2807970" y="1892951"/>
                  <a:pt x="3302413" y="1843421"/>
                  <a:pt x="3600450" y="1691306"/>
                </a:cubicBezTo>
                <a:cubicBezTo>
                  <a:pt x="4213860" y="1378315"/>
                  <a:pt x="4601242" y="500491"/>
                  <a:pt x="5218177" y="194453"/>
                </a:cubicBezTo>
                <a:cubicBezTo>
                  <a:pt x="5729002" y="-58912"/>
                  <a:pt x="6471762" y="-12621"/>
                  <a:pt x="6918198" y="239887"/>
                </a:cubicBezTo>
              </a:path>
            </a:pathLst>
          </a:custGeom>
          <a:noFill/>
          <a:ln cap="flat" cmpd="sng" w="38100">
            <a:solidFill>
              <a:schemeClr val="lt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7"/>
          <p:cNvSpPr/>
          <p:nvPr/>
        </p:nvSpPr>
        <p:spPr>
          <a:xfrm flipH="1" rot="2700000">
            <a:off x="2386918" y="4372045"/>
            <a:ext cx="3064796" cy="3438690"/>
          </a:xfrm>
          <a:custGeom>
            <a:rect b="b" l="l" r="r" t="t"/>
            <a:pathLst>
              <a:path extrusionOk="0" h="2566249" w="2287217">
                <a:moveTo>
                  <a:pt x="1719929" y="2566250"/>
                </a:moveTo>
                <a:cubicBezTo>
                  <a:pt x="1628204" y="2188012"/>
                  <a:pt x="1862900" y="1824633"/>
                  <a:pt x="2067592" y="1544693"/>
                </a:cubicBezTo>
                <a:cubicBezTo>
                  <a:pt x="2982278" y="294156"/>
                  <a:pt x="794480" y="-477464"/>
                  <a:pt x="0" y="332923"/>
                </a:cubicBezTo>
              </a:path>
            </a:pathLst>
          </a:custGeom>
          <a:noFill/>
          <a:ln cap="flat" cmpd="sng" w="38100">
            <a:solidFill>
              <a:schemeClr val="lt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8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8"/>
          <p:cNvSpPr/>
          <p:nvPr/>
        </p:nvSpPr>
        <p:spPr>
          <a:xfrm>
            <a:off x="138000" y="105900"/>
            <a:ext cx="8868000" cy="49317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9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9"/>
          <p:cNvSpPr/>
          <p:nvPr/>
        </p:nvSpPr>
        <p:spPr>
          <a:xfrm>
            <a:off x="138000" y="105900"/>
            <a:ext cx="8868000" cy="49317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/>
          <p:nvPr/>
        </p:nvSpPr>
        <p:spPr>
          <a:xfrm rot="-8983379">
            <a:off x="-3291909" y="3689905"/>
            <a:ext cx="6929431" cy="1852398"/>
          </a:xfrm>
          <a:custGeom>
            <a:rect b="b" l="l" r="r" t="t"/>
            <a:pathLst>
              <a:path extrusionOk="0" h="1849395" w="6918198">
                <a:moveTo>
                  <a:pt x="0" y="177784"/>
                </a:moveTo>
                <a:cubicBezTo>
                  <a:pt x="100203" y="107299"/>
                  <a:pt x="223456" y="52721"/>
                  <a:pt x="373190" y="27098"/>
                </a:cubicBezTo>
                <a:cubicBezTo>
                  <a:pt x="1479137" y="-161782"/>
                  <a:pt x="1810417" y="687371"/>
                  <a:pt x="1869472" y="1007316"/>
                </a:cubicBezTo>
                <a:cubicBezTo>
                  <a:pt x="1925193" y="1309163"/>
                  <a:pt x="2187416" y="1730549"/>
                  <a:pt x="2484311" y="1808273"/>
                </a:cubicBezTo>
                <a:cubicBezTo>
                  <a:pt x="2807970" y="1892951"/>
                  <a:pt x="3302413" y="1843421"/>
                  <a:pt x="3600450" y="1691306"/>
                </a:cubicBezTo>
                <a:cubicBezTo>
                  <a:pt x="4213860" y="1378315"/>
                  <a:pt x="4601242" y="500491"/>
                  <a:pt x="5218177" y="194453"/>
                </a:cubicBezTo>
                <a:cubicBezTo>
                  <a:pt x="5729002" y="-58912"/>
                  <a:pt x="6471762" y="-12621"/>
                  <a:pt x="6918198" y="239887"/>
                </a:cubicBezTo>
              </a:path>
            </a:pathLst>
          </a:custGeom>
          <a:noFill/>
          <a:ln cap="flat" cmpd="sng" w="38100">
            <a:solidFill>
              <a:schemeClr val="lt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9"/>
          <p:cNvSpPr/>
          <p:nvPr/>
        </p:nvSpPr>
        <p:spPr>
          <a:xfrm flipH="1" rot="-6461506">
            <a:off x="6847336" y="-2471221"/>
            <a:ext cx="3066972" cy="3441131"/>
          </a:xfrm>
          <a:custGeom>
            <a:rect b="b" l="l" r="r" t="t"/>
            <a:pathLst>
              <a:path extrusionOk="0" h="2566249" w="2287217">
                <a:moveTo>
                  <a:pt x="1719929" y="2566250"/>
                </a:moveTo>
                <a:cubicBezTo>
                  <a:pt x="1628204" y="2188012"/>
                  <a:pt x="1862900" y="1824633"/>
                  <a:pt x="2067592" y="1544693"/>
                </a:cubicBezTo>
                <a:cubicBezTo>
                  <a:pt x="2982278" y="294156"/>
                  <a:pt x="794480" y="-477464"/>
                  <a:pt x="0" y="332923"/>
                </a:cubicBezTo>
              </a:path>
            </a:pathLst>
          </a:custGeom>
          <a:noFill/>
          <a:ln cap="flat" cmpd="sng" w="38100">
            <a:solidFill>
              <a:schemeClr val="lt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10"/>
          <p:cNvSpPr txBox="1"/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1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1"/>
          <p:cNvSpPr/>
          <p:nvPr/>
        </p:nvSpPr>
        <p:spPr>
          <a:xfrm>
            <a:off x="138000" y="105900"/>
            <a:ext cx="8868000" cy="49317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1"/>
          <p:cNvSpPr/>
          <p:nvPr/>
        </p:nvSpPr>
        <p:spPr>
          <a:xfrm rot="-2700000">
            <a:off x="-2097838" y="-781758"/>
            <a:ext cx="6922045" cy="1850423"/>
          </a:xfrm>
          <a:custGeom>
            <a:rect b="b" l="l" r="r" t="t"/>
            <a:pathLst>
              <a:path extrusionOk="0" h="1849395" w="6918198">
                <a:moveTo>
                  <a:pt x="0" y="177784"/>
                </a:moveTo>
                <a:cubicBezTo>
                  <a:pt x="100203" y="107299"/>
                  <a:pt x="223456" y="52721"/>
                  <a:pt x="373190" y="27098"/>
                </a:cubicBezTo>
                <a:cubicBezTo>
                  <a:pt x="1479137" y="-161782"/>
                  <a:pt x="1810417" y="687371"/>
                  <a:pt x="1869472" y="1007316"/>
                </a:cubicBezTo>
                <a:cubicBezTo>
                  <a:pt x="1925193" y="1309163"/>
                  <a:pt x="2187416" y="1730549"/>
                  <a:pt x="2484311" y="1808273"/>
                </a:cubicBezTo>
                <a:cubicBezTo>
                  <a:pt x="2807970" y="1892951"/>
                  <a:pt x="3302413" y="1843421"/>
                  <a:pt x="3600450" y="1691306"/>
                </a:cubicBezTo>
                <a:cubicBezTo>
                  <a:pt x="4213860" y="1378315"/>
                  <a:pt x="4601242" y="500491"/>
                  <a:pt x="5218177" y="194453"/>
                </a:cubicBezTo>
                <a:cubicBezTo>
                  <a:pt x="5729002" y="-58912"/>
                  <a:pt x="6471762" y="-12621"/>
                  <a:pt x="6918198" y="239887"/>
                </a:cubicBezTo>
              </a:path>
            </a:pathLst>
          </a:custGeom>
          <a:noFill/>
          <a:ln cap="flat" cmpd="sng" w="38100">
            <a:solidFill>
              <a:schemeClr val="lt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1"/>
          <p:cNvSpPr/>
          <p:nvPr/>
        </p:nvSpPr>
        <p:spPr>
          <a:xfrm flipH="1" rot="632058">
            <a:off x="6774628" y="3199829"/>
            <a:ext cx="3065068" cy="3438995"/>
          </a:xfrm>
          <a:custGeom>
            <a:rect b="b" l="l" r="r" t="t"/>
            <a:pathLst>
              <a:path extrusionOk="0" h="2566249" w="2287217">
                <a:moveTo>
                  <a:pt x="1719929" y="2566250"/>
                </a:moveTo>
                <a:cubicBezTo>
                  <a:pt x="1628204" y="2188012"/>
                  <a:pt x="1862900" y="1824633"/>
                  <a:pt x="2067592" y="1544693"/>
                </a:cubicBezTo>
                <a:cubicBezTo>
                  <a:pt x="2982278" y="294156"/>
                  <a:pt x="794480" y="-477464"/>
                  <a:pt x="0" y="332923"/>
                </a:cubicBezTo>
              </a:path>
            </a:pathLst>
          </a:custGeom>
          <a:noFill/>
          <a:ln cap="flat" cmpd="sng" w="38100">
            <a:solidFill>
              <a:schemeClr val="lt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3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3"/>
          <p:cNvSpPr/>
          <p:nvPr/>
        </p:nvSpPr>
        <p:spPr>
          <a:xfrm>
            <a:off x="138000" y="105900"/>
            <a:ext cx="8868000" cy="49317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3"/>
          <p:cNvSpPr txBox="1"/>
          <p:nvPr>
            <p:ph type="title"/>
          </p:nvPr>
        </p:nvSpPr>
        <p:spPr>
          <a:xfrm>
            <a:off x="713225" y="140225"/>
            <a:ext cx="7717800" cy="41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p13"/>
          <p:cNvSpPr/>
          <p:nvPr/>
        </p:nvSpPr>
        <p:spPr>
          <a:xfrm rot="508674">
            <a:off x="-2663706" y="2001463"/>
            <a:ext cx="3064044" cy="3437846"/>
          </a:xfrm>
          <a:custGeom>
            <a:rect b="b" l="l" r="r" t="t"/>
            <a:pathLst>
              <a:path extrusionOk="0" h="2566249" w="2287217">
                <a:moveTo>
                  <a:pt x="1719929" y="2566250"/>
                </a:moveTo>
                <a:cubicBezTo>
                  <a:pt x="1628204" y="2188012"/>
                  <a:pt x="1862900" y="1824633"/>
                  <a:pt x="2067592" y="1544693"/>
                </a:cubicBezTo>
                <a:cubicBezTo>
                  <a:pt x="2982278" y="294156"/>
                  <a:pt x="794480" y="-477464"/>
                  <a:pt x="0" y="332923"/>
                </a:cubicBezTo>
              </a:path>
            </a:pathLst>
          </a:custGeom>
          <a:noFill/>
          <a:ln cap="flat" cmpd="sng" w="38100">
            <a:solidFill>
              <a:schemeClr val="lt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3"/>
          <p:cNvSpPr/>
          <p:nvPr/>
        </p:nvSpPr>
        <p:spPr>
          <a:xfrm rot="-6394539">
            <a:off x="8160834" y="-725333"/>
            <a:ext cx="2197061" cy="2145391"/>
          </a:xfrm>
          <a:custGeom>
            <a:rect b="b" l="l" r="r" t="t"/>
            <a:pathLst>
              <a:path extrusionOk="0" h="2147506" w="2199227">
                <a:moveTo>
                  <a:pt x="2199227" y="0"/>
                </a:moveTo>
                <a:cubicBezTo>
                  <a:pt x="1773555" y="210312"/>
                  <a:pt x="1306544" y="281273"/>
                  <a:pt x="913924" y="600647"/>
                </a:cubicBezTo>
                <a:cubicBezTo>
                  <a:pt x="239173" y="1149382"/>
                  <a:pt x="311753" y="1655826"/>
                  <a:pt x="0" y="2147507"/>
                </a:cubicBezTo>
              </a:path>
            </a:pathLst>
          </a:custGeom>
          <a:noFill/>
          <a:ln cap="flat" cmpd="sng" w="38100">
            <a:solidFill>
              <a:schemeClr val="lt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2" name="Google Shape;72;p13"/>
          <p:cNvGrpSpPr/>
          <p:nvPr/>
        </p:nvGrpSpPr>
        <p:grpSpPr>
          <a:xfrm rot="-9520503">
            <a:off x="7161016" y="-797716"/>
            <a:ext cx="1420442" cy="1348547"/>
            <a:chOff x="3130155" y="1024358"/>
            <a:chExt cx="935446" cy="888099"/>
          </a:xfrm>
        </p:grpSpPr>
        <p:grpSp>
          <p:nvGrpSpPr>
            <p:cNvPr id="73" name="Google Shape;73;p13"/>
            <p:cNvGrpSpPr/>
            <p:nvPr/>
          </p:nvGrpSpPr>
          <p:grpSpPr>
            <a:xfrm>
              <a:off x="3130155" y="1036769"/>
              <a:ext cx="835431" cy="850133"/>
              <a:chOff x="3130155" y="1036769"/>
              <a:chExt cx="835431" cy="850133"/>
            </a:xfrm>
          </p:grpSpPr>
          <p:sp>
            <p:nvSpPr>
              <p:cNvPr id="74" name="Google Shape;74;p13"/>
              <p:cNvSpPr/>
              <p:nvPr/>
            </p:nvSpPr>
            <p:spPr>
              <a:xfrm>
                <a:off x="3130155" y="1036769"/>
                <a:ext cx="835431" cy="850133"/>
              </a:xfrm>
              <a:custGeom>
                <a:rect b="b" l="l" r="r" t="t"/>
                <a:pathLst>
                  <a:path extrusionOk="0" h="850133" w="835431">
                    <a:moveTo>
                      <a:pt x="666651" y="847691"/>
                    </a:moveTo>
                    <a:cubicBezTo>
                      <a:pt x="666175" y="849501"/>
                      <a:pt x="664080" y="850548"/>
                      <a:pt x="661984" y="849977"/>
                    </a:cubicBezTo>
                    <a:lnTo>
                      <a:pt x="3140" y="686528"/>
                    </a:lnTo>
                    <a:cubicBezTo>
                      <a:pt x="1044" y="685956"/>
                      <a:pt x="-384" y="684147"/>
                      <a:pt x="92" y="682337"/>
                    </a:cubicBezTo>
                    <a:lnTo>
                      <a:pt x="168780" y="2442"/>
                    </a:lnTo>
                    <a:cubicBezTo>
                      <a:pt x="169256" y="633"/>
                      <a:pt x="171351" y="-415"/>
                      <a:pt x="173447" y="156"/>
                    </a:cubicBezTo>
                    <a:lnTo>
                      <a:pt x="832291" y="163701"/>
                    </a:lnTo>
                    <a:cubicBezTo>
                      <a:pt x="834387" y="164272"/>
                      <a:pt x="835815" y="166082"/>
                      <a:pt x="835339" y="167892"/>
                    </a:cubicBezTo>
                    <a:lnTo>
                      <a:pt x="666651" y="847691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accent6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13"/>
              <p:cNvSpPr/>
              <p:nvPr/>
            </p:nvSpPr>
            <p:spPr>
              <a:xfrm rot="-4566169">
                <a:off x="3247642" y="1156345"/>
                <a:ext cx="602956" cy="597626"/>
              </a:xfrm>
              <a:custGeom>
                <a:rect b="b" l="l" r="r" t="t"/>
                <a:pathLst>
                  <a:path extrusionOk="0" h="598075" w="603409">
                    <a:moveTo>
                      <a:pt x="597694" y="0"/>
                    </a:moveTo>
                    <a:cubicBezTo>
                      <a:pt x="600850" y="0"/>
                      <a:pt x="603409" y="2559"/>
                      <a:pt x="603409" y="5715"/>
                    </a:cubicBezTo>
                    <a:lnTo>
                      <a:pt x="603409" y="592360"/>
                    </a:lnTo>
                    <a:cubicBezTo>
                      <a:pt x="603409" y="595516"/>
                      <a:pt x="600850" y="598075"/>
                      <a:pt x="597694" y="598075"/>
                    </a:cubicBezTo>
                    <a:lnTo>
                      <a:pt x="5715" y="598075"/>
                    </a:lnTo>
                    <a:cubicBezTo>
                      <a:pt x="2559" y="598075"/>
                      <a:pt x="0" y="595516"/>
                      <a:pt x="0" y="592360"/>
                    </a:cubicBezTo>
                    <a:lnTo>
                      <a:pt x="0" y="5715"/>
                    </a:lnTo>
                    <a:cubicBezTo>
                      <a:pt x="0" y="2559"/>
                      <a:pt x="2559" y="0"/>
                      <a:pt x="57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" name="Google Shape;76;p13"/>
            <p:cNvGrpSpPr/>
            <p:nvPr/>
          </p:nvGrpSpPr>
          <p:grpSpPr>
            <a:xfrm>
              <a:off x="3186203" y="1024358"/>
              <a:ext cx="879398" cy="888099"/>
              <a:chOff x="3186203" y="1024358"/>
              <a:chExt cx="879398" cy="888099"/>
            </a:xfrm>
          </p:grpSpPr>
          <p:sp>
            <p:nvSpPr>
              <p:cNvPr id="77" name="Google Shape;77;p13"/>
              <p:cNvSpPr/>
              <p:nvPr/>
            </p:nvSpPr>
            <p:spPr>
              <a:xfrm>
                <a:off x="3186203" y="1024358"/>
                <a:ext cx="879398" cy="888099"/>
              </a:xfrm>
              <a:custGeom>
                <a:rect b="b" l="l" r="r" t="t"/>
                <a:pathLst>
                  <a:path extrusionOk="0" h="888099" w="879398">
                    <a:moveTo>
                      <a:pt x="647561" y="886010"/>
                    </a:moveTo>
                    <a:cubicBezTo>
                      <a:pt x="646989" y="887724"/>
                      <a:pt x="644799" y="888581"/>
                      <a:pt x="642703" y="887819"/>
                    </a:cubicBezTo>
                    <a:lnTo>
                      <a:pt x="2814" y="661410"/>
                    </a:lnTo>
                    <a:cubicBezTo>
                      <a:pt x="718" y="660648"/>
                      <a:pt x="-425" y="658648"/>
                      <a:pt x="147" y="656933"/>
                    </a:cubicBezTo>
                    <a:lnTo>
                      <a:pt x="231795" y="2090"/>
                    </a:lnTo>
                    <a:cubicBezTo>
                      <a:pt x="232366" y="375"/>
                      <a:pt x="234557" y="-482"/>
                      <a:pt x="236652" y="280"/>
                    </a:cubicBezTo>
                    <a:lnTo>
                      <a:pt x="876637" y="226689"/>
                    </a:lnTo>
                    <a:cubicBezTo>
                      <a:pt x="878733" y="227451"/>
                      <a:pt x="879876" y="229451"/>
                      <a:pt x="879209" y="231166"/>
                    </a:cubicBezTo>
                    <a:lnTo>
                      <a:pt x="647561" y="88601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accent6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13"/>
              <p:cNvSpPr/>
              <p:nvPr/>
            </p:nvSpPr>
            <p:spPr>
              <a:xfrm rot="-4234075">
                <a:off x="3325303" y="1165557"/>
                <a:ext cx="603065" cy="597734"/>
              </a:xfrm>
              <a:custGeom>
                <a:rect b="b" l="l" r="r" t="t"/>
                <a:pathLst>
                  <a:path extrusionOk="0" h="598074" w="603408">
                    <a:moveTo>
                      <a:pt x="597694" y="0"/>
                    </a:moveTo>
                    <a:cubicBezTo>
                      <a:pt x="600850" y="0"/>
                      <a:pt x="603409" y="2559"/>
                      <a:pt x="603409" y="5715"/>
                    </a:cubicBezTo>
                    <a:lnTo>
                      <a:pt x="603409" y="592360"/>
                    </a:lnTo>
                    <a:cubicBezTo>
                      <a:pt x="603409" y="595516"/>
                      <a:pt x="600850" y="598075"/>
                      <a:pt x="597694" y="598075"/>
                    </a:cubicBezTo>
                    <a:lnTo>
                      <a:pt x="5715" y="598075"/>
                    </a:lnTo>
                    <a:cubicBezTo>
                      <a:pt x="2559" y="598075"/>
                      <a:pt x="0" y="595516"/>
                      <a:pt x="0" y="592360"/>
                    </a:cubicBezTo>
                    <a:lnTo>
                      <a:pt x="0" y="5715"/>
                    </a:lnTo>
                    <a:cubicBezTo>
                      <a:pt x="0" y="2559"/>
                      <a:pt x="2559" y="0"/>
                      <a:pt x="57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3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4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/>
          <p:cNvSpPr/>
          <p:nvPr/>
        </p:nvSpPr>
        <p:spPr>
          <a:xfrm>
            <a:off x="138000" y="105900"/>
            <a:ext cx="8868000" cy="49317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4"/>
          <p:cNvSpPr txBox="1"/>
          <p:nvPr>
            <p:ph type="title"/>
          </p:nvPr>
        </p:nvSpPr>
        <p:spPr>
          <a:xfrm>
            <a:off x="713225" y="140225"/>
            <a:ext cx="7717800" cy="41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14"/>
          <p:cNvSpPr/>
          <p:nvPr/>
        </p:nvSpPr>
        <p:spPr>
          <a:xfrm rot="4768632">
            <a:off x="-888250" y="3535572"/>
            <a:ext cx="2197701" cy="2146016"/>
          </a:xfrm>
          <a:custGeom>
            <a:rect b="b" l="l" r="r" t="t"/>
            <a:pathLst>
              <a:path extrusionOk="0" h="2147506" w="2199227">
                <a:moveTo>
                  <a:pt x="2199227" y="0"/>
                </a:moveTo>
                <a:cubicBezTo>
                  <a:pt x="1773555" y="210312"/>
                  <a:pt x="1306544" y="281273"/>
                  <a:pt x="913924" y="600647"/>
                </a:cubicBezTo>
                <a:cubicBezTo>
                  <a:pt x="239173" y="1149382"/>
                  <a:pt x="311753" y="1655826"/>
                  <a:pt x="0" y="2147507"/>
                </a:cubicBezTo>
              </a:path>
            </a:pathLst>
          </a:custGeom>
          <a:noFill/>
          <a:ln cap="flat" cmpd="sng" w="38100">
            <a:solidFill>
              <a:schemeClr val="lt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4"/>
          <p:cNvSpPr/>
          <p:nvPr/>
        </p:nvSpPr>
        <p:spPr>
          <a:xfrm rot="2353133">
            <a:off x="5982901" y="-808890"/>
            <a:ext cx="6920554" cy="1850025"/>
          </a:xfrm>
          <a:custGeom>
            <a:rect b="b" l="l" r="r" t="t"/>
            <a:pathLst>
              <a:path extrusionOk="0" h="1849395" w="6918198">
                <a:moveTo>
                  <a:pt x="0" y="177784"/>
                </a:moveTo>
                <a:cubicBezTo>
                  <a:pt x="100203" y="107299"/>
                  <a:pt x="223456" y="52721"/>
                  <a:pt x="373190" y="27098"/>
                </a:cubicBezTo>
                <a:cubicBezTo>
                  <a:pt x="1479137" y="-161782"/>
                  <a:pt x="1810417" y="687371"/>
                  <a:pt x="1869472" y="1007316"/>
                </a:cubicBezTo>
                <a:cubicBezTo>
                  <a:pt x="1925193" y="1309163"/>
                  <a:pt x="2187416" y="1730549"/>
                  <a:pt x="2484311" y="1808273"/>
                </a:cubicBezTo>
                <a:cubicBezTo>
                  <a:pt x="2807970" y="1892951"/>
                  <a:pt x="3302413" y="1843421"/>
                  <a:pt x="3600450" y="1691306"/>
                </a:cubicBezTo>
                <a:cubicBezTo>
                  <a:pt x="4213860" y="1378315"/>
                  <a:pt x="4601242" y="500491"/>
                  <a:pt x="5218177" y="194453"/>
                </a:cubicBezTo>
                <a:cubicBezTo>
                  <a:pt x="5729002" y="-58912"/>
                  <a:pt x="6471762" y="-12621"/>
                  <a:pt x="6918198" y="239887"/>
                </a:cubicBezTo>
              </a:path>
            </a:pathLst>
          </a:custGeom>
          <a:noFill/>
          <a:ln cap="flat" cmpd="sng" w="38100">
            <a:solidFill>
              <a:schemeClr val="lt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4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5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/>
          <p:nvPr/>
        </p:nvSpPr>
        <p:spPr>
          <a:xfrm>
            <a:off x="138000" y="105900"/>
            <a:ext cx="8868000" cy="49317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/>
          <p:cNvSpPr txBox="1"/>
          <p:nvPr>
            <p:ph type="title"/>
          </p:nvPr>
        </p:nvSpPr>
        <p:spPr>
          <a:xfrm>
            <a:off x="713225" y="140225"/>
            <a:ext cx="7717800" cy="41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15"/>
          <p:cNvSpPr/>
          <p:nvPr/>
        </p:nvSpPr>
        <p:spPr>
          <a:xfrm rot="-5400000">
            <a:off x="-4061615" y="1392997"/>
            <a:ext cx="6935493" cy="1854018"/>
          </a:xfrm>
          <a:custGeom>
            <a:rect b="b" l="l" r="r" t="t"/>
            <a:pathLst>
              <a:path extrusionOk="0" h="1849395" w="6918198">
                <a:moveTo>
                  <a:pt x="0" y="177784"/>
                </a:moveTo>
                <a:cubicBezTo>
                  <a:pt x="100203" y="107299"/>
                  <a:pt x="223456" y="52721"/>
                  <a:pt x="373190" y="27098"/>
                </a:cubicBezTo>
                <a:cubicBezTo>
                  <a:pt x="1479137" y="-161782"/>
                  <a:pt x="1810417" y="687371"/>
                  <a:pt x="1869472" y="1007316"/>
                </a:cubicBezTo>
                <a:cubicBezTo>
                  <a:pt x="1925193" y="1309163"/>
                  <a:pt x="2187416" y="1730549"/>
                  <a:pt x="2484311" y="1808273"/>
                </a:cubicBezTo>
                <a:cubicBezTo>
                  <a:pt x="2807970" y="1892951"/>
                  <a:pt x="3302413" y="1843421"/>
                  <a:pt x="3600450" y="1691306"/>
                </a:cubicBezTo>
                <a:cubicBezTo>
                  <a:pt x="4213860" y="1378315"/>
                  <a:pt x="4601242" y="500491"/>
                  <a:pt x="5218177" y="194453"/>
                </a:cubicBezTo>
                <a:cubicBezTo>
                  <a:pt x="5729002" y="-58912"/>
                  <a:pt x="6471762" y="-12621"/>
                  <a:pt x="6918198" y="239887"/>
                </a:cubicBezTo>
              </a:path>
            </a:pathLst>
          </a:custGeom>
          <a:noFill/>
          <a:ln cap="flat" cmpd="sng" w="38100">
            <a:solidFill>
              <a:schemeClr val="lt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5"/>
          <p:cNvSpPr/>
          <p:nvPr/>
        </p:nvSpPr>
        <p:spPr>
          <a:xfrm rot="-223697">
            <a:off x="7594758" y="3671991"/>
            <a:ext cx="2198382" cy="2146680"/>
          </a:xfrm>
          <a:custGeom>
            <a:rect b="b" l="l" r="r" t="t"/>
            <a:pathLst>
              <a:path extrusionOk="0" h="2147506" w="2199227">
                <a:moveTo>
                  <a:pt x="2199227" y="0"/>
                </a:moveTo>
                <a:cubicBezTo>
                  <a:pt x="1773555" y="210312"/>
                  <a:pt x="1306544" y="281273"/>
                  <a:pt x="913924" y="600647"/>
                </a:cubicBezTo>
                <a:cubicBezTo>
                  <a:pt x="239173" y="1149382"/>
                  <a:pt x="311753" y="1655826"/>
                  <a:pt x="0" y="2147507"/>
                </a:cubicBezTo>
              </a:path>
            </a:pathLst>
          </a:custGeom>
          <a:noFill/>
          <a:ln cap="flat" cmpd="sng" w="38100">
            <a:solidFill>
              <a:schemeClr val="lt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5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6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/>
          <p:nvPr/>
        </p:nvSpPr>
        <p:spPr>
          <a:xfrm>
            <a:off x="138000" y="105900"/>
            <a:ext cx="8868000" cy="49317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 txBox="1"/>
          <p:nvPr>
            <p:ph type="title"/>
          </p:nvPr>
        </p:nvSpPr>
        <p:spPr>
          <a:xfrm>
            <a:off x="713225" y="140225"/>
            <a:ext cx="7717800" cy="41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" name="Google Shape;95;p16"/>
          <p:cNvSpPr/>
          <p:nvPr/>
        </p:nvSpPr>
        <p:spPr>
          <a:xfrm rot="-9840912">
            <a:off x="-2457332" y="4122547"/>
            <a:ext cx="6908592" cy="1846827"/>
          </a:xfrm>
          <a:custGeom>
            <a:rect b="b" l="l" r="r" t="t"/>
            <a:pathLst>
              <a:path extrusionOk="0" h="1849395" w="6918198">
                <a:moveTo>
                  <a:pt x="0" y="177784"/>
                </a:moveTo>
                <a:cubicBezTo>
                  <a:pt x="100203" y="107299"/>
                  <a:pt x="223456" y="52721"/>
                  <a:pt x="373190" y="27098"/>
                </a:cubicBezTo>
                <a:cubicBezTo>
                  <a:pt x="1479137" y="-161782"/>
                  <a:pt x="1810417" y="687371"/>
                  <a:pt x="1869472" y="1007316"/>
                </a:cubicBezTo>
                <a:cubicBezTo>
                  <a:pt x="1925193" y="1309163"/>
                  <a:pt x="2187416" y="1730549"/>
                  <a:pt x="2484311" y="1808273"/>
                </a:cubicBezTo>
                <a:cubicBezTo>
                  <a:pt x="2807970" y="1892951"/>
                  <a:pt x="3302413" y="1843421"/>
                  <a:pt x="3600450" y="1691306"/>
                </a:cubicBezTo>
                <a:cubicBezTo>
                  <a:pt x="4213860" y="1378315"/>
                  <a:pt x="4601242" y="500491"/>
                  <a:pt x="5218177" y="194453"/>
                </a:cubicBezTo>
                <a:cubicBezTo>
                  <a:pt x="5729002" y="-58912"/>
                  <a:pt x="6471762" y="-12621"/>
                  <a:pt x="6918198" y="239887"/>
                </a:cubicBezTo>
              </a:path>
            </a:pathLst>
          </a:custGeom>
          <a:noFill/>
          <a:ln cap="flat" cmpd="sng" w="38100">
            <a:solidFill>
              <a:schemeClr val="lt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/>
          <p:nvPr/>
        </p:nvSpPr>
        <p:spPr>
          <a:xfrm rot="1605439">
            <a:off x="5618231" y="-411370"/>
            <a:ext cx="6914933" cy="1848522"/>
          </a:xfrm>
          <a:custGeom>
            <a:rect b="b" l="l" r="r" t="t"/>
            <a:pathLst>
              <a:path extrusionOk="0" h="1849395" w="6918198">
                <a:moveTo>
                  <a:pt x="0" y="177784"/>
                </a:moveTo>
                <a:cubicBezTo>
                  <a:pt x="100203" y="107299"/>
                  <a:pt x="223456" y="52721"/>
                  <a:pt x="373190" y="27098"/>
                </a:cubicBezTo>
                <a:cubicBezTo>
                  <a:pt x="1479137" y="-161782"/>
                  <a:pt x="1810417" y="687371"/>
                  <a:pt x="1869472" y="1007316"/>
                </a:cubicBezTo>
                <a:cubicBezTo>
                  <a:pt x="1925193" y="1309163"/>
                  <a:pt x="2187416" y="1730549"/>
                  <a:pt x="2484311" y="1808273"/>
                </a:cubicBezTo>
                <a:cubicBezTo>
                  <a:pt x="2807970" y="1892951"/>
                  <a:pt x="3302413" y="1843421"/>
                  <a:pt x="3600450" y="1691306"/>
                </a:cubicBezTo>
                <a:cubicBezTo>
                  <a:pt x="4213860" y="1378315"/>
                  <a:pt x="4601242" y="500491"/>
                  <a:pt x="5218177" y="194453"/>
                </a:cubicBezTo>
                <a:cubicBezTo>
                  <a:pt x="5729002" y="-58912"/>
                  <a:pt x="6471762" y="-12621"/>
                  <a:pt x="6918198" y="239887"/>
                </a:cubicBezTo>
              </a:path>
            </a:pathLst>
          </a:custGeom>
          <a:noFill/>
          <a:ln cap="flat" cmpd="sng" w="38100">
            <a:solidFill>
              <a:schemeClr val="lt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8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7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/>
          <p:nvPr/>
        </p:nvSpPr>
        <p:spPr>
          <a:xfrm>
            <a:off x="138000" y="105900"/>
            <a:ext cx="8868000" cy="49317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7"/>
          <p:cNvSpPr txBox="1"/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713225" y="1152475"/>
            <a:ext cx="7717800" cy="15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Didact Gothic"/>
              <a:buChar char="●"/>
              <a:defRPr sz="1400"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Didact Gothic"/>
              <a:buChar char="○"/>
              <a:defRPr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Didact Gothic"/>
              <a:buChar char="■"/>
              <a:defRPr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Didact Gothic"/>
              <a:buChar char="●"/>
              <a:defRPr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Didact Gothic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Didact Gothic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Didact Gothic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Didact Gothic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Didact Gothic"/>
              <a:buChar char="■"/>
              <a:defRPr/>
            </a:lvl9pPr>
          </a:lstStyle>
          <a:p/>
        </p:txBody>
      </p:sp>
      <p:sp>
        <p:nvSpPr>
          <p:cNvPr id="102" name="Google Shape;102;p17"/>
          <p:cNvSpPr/>
          <p:nvPr/>
        </p:nvSpPr>
        <p:spPr>
          <a:xfrm rot="-10212471">
            <a:off x="-575650" y="-948900"/>
            <a:ext cx="2198265" cy="2146566"/>
          </a:xfrm>
          <a:custGeom>
            <a:rect b="b" l="l" r="r" t="t"/>
            <a:pathLst>
              <a:path extrusionOk="0" h="2147506" w="2199227">
                <a:moveTo>
                  <a:pt x="2199227" y="0"/>
                </a:moveTo>
                <a:cubicBezTo>
                  <a:pt x="1773555" y="210312"/>
                  <a:pt x="1306544" y="281273"/>
                  <a:pt x="913924" y="600647"/>
                </a:cubicBezTo>
                <a:cubicBezTo>
                  <a:pt x="239173" y="1149382"/>
                  <a:pt x="311753" y="1655826"/>
                  <a:pt x="0" y="2147507"/>
                </a:cubicBezTo>
              </a:path>
            </a:pathLst>
          </a:custGeom>
          <a:noFill/>
          <a:ln cap="flat" cmpd="sng" w="38100">
            <a:solidFill>
              <a:schemeClr val="lt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6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8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/>
          <p:nvPr/>
        </p:nvSpPr>
        <p:spPr>
          <a:xfrm>
            <a:off x="138000" y="105900"/>
            <a:ext cx="8868000" cy="49317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8"/>
          <p:cNvSpPr txBox="1"/>
          <p:nvPr>
            <p:ph type="title"/>
          </p:nvPr>
        </p:nvSpPr>
        <p:spPr>
          <a:xfrm>
            <a:off x="2799000" y="781238"/>
            <a:ext cx="3546000" cy="93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7" name="Google Shape;107;p18"/>
          <p:cNvSpPr txBox="1"/>
          <p:nvPr>
            <p:ph idx="1" type="subTitle"/>
          </p:nvPr>
        </p:nvSpPr>
        <p:spPr>
          <a:xfrm>
            <a:off x="3252600" y="1574213"/>
            <a:ext cx="2638800" cy="10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8"/>
          <p:cNvSpPr txBox="1"/>
          <p:nvPr/>
        </p:nvSpPr>
        <p:spPr>
          <a:xfrm>
            <a:off x="2642550" y="3315200"/>
            <a:ext cx="3858900" cy="7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CREDITS:</a:t>
            </a:r>
            <a:r>
              <a:rPr lang="en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 xml:space="preserve"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 xml:space="preserve">, including icons by </a:t>
            </a:r>
            <a:r>
              <a:rPr b="1" lang="en" sz="12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 xml:space="preserve">, infographics &amp; images by </a:t>
            </a:r>
            <a:r>
              <a:rPr b="1" lang="en" sz="12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 xml:space="preserve"> </a:t>
            </a:r>
            <a:endParaRPr sz="1200" u="sng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9" name="Google Shape;109;p18"/>
          <p:cNvSpPr/>
          <p:nvPr/>
        </p:nvSpPr>
        <p:spPr>
          <a:xfrm rot="-6394539">
            <a:off x="7332246" y="-496608"/>
            <a:ext cx="2197061" cy="2145391"/>
          </a:xfrm>
          <a:custGeom>
            <a:rect b="b" l="l" r="r" t="t"/>
            <a:pathLst>
              <a:path extrusionOk="0" h="2147506" w="2199227">
                <a:moveTo>
                  <a:pt x="2199227" y="0"/>
                </a:moveTo>
                <a:cubicBezTo>
                  <a:pt x="1773555" y="210312"/>
                  <a:pt x="1306544" y="281273"/>
                  <a:pt x="913924" y="600647"/>
                </a:cubicBezTo>
                <a:cubicBezTo>
                  <a:pt x="239173" y="1149382"/>
                  <a:pt x="311753" y="1655826"/>
                  <a:pt x="0" y="2147507"/>
                </a:cubicBezTo>
              </a:path>
            </a:pathLst>
          </a:custGeom>
          <a:noFill/>
          <a:ln cap="flat" cmpd="sng" w="38100">
            <a:solidFill>
              <a:schemeClr val="lt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9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/>
          <p:nvPr/>
        </p:nvSpPr>
        <p:spPr>
          <a:xfrm>
            <a:off x="138000" y="105900"/>
            <a:ext cx="8868000" cy="49317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9"/>
          <p:cNvSpPr/>
          <p:nvPr/>
        </p:nvSpPr>
        <p:spPr>
          <a:xfrm rot="10619233">
            <a:off x="-564420" y="-424122"/>
            <a:ext cx="2196765" cy="2145102"/>
          </a:xfrm>
          <a:custGeom>
            <a:rect b="b" l="l" r="r" t="t"/>
            <a:pathLst>
              <a:path extrusionOk="0" h="2147506" w="2199227">
                <a:moveTo>
                  <a:pt x="2199227" y="0"/>
                </a:moveTo>
                <a:cubicBezTo>
                  <a:pt x="1773555" y="210312"/>
                  <a:pt x="1306544" y="281273"/>
                  <a:pt x="913924" y="600647"/>
                </a:cubicBezTo>
                <a:cubicBezTo>
                  <a:pt x="239173" y="1149382"/>
                  <a:pt x="311753" y="1655826"/>
                  <a:pt x="0" y="2147507"/>
                </a:cubicBezTo>
              </a:path>
            </a:pathLst>
          </a:custGeom>
          <a:noFill/>
          <a:ln cap="flat" cmpd="sng" w="38100">
            <a:solidFill>
              <a:schemeClr val="lt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9"/>
          <p:cNvSpPr/>
          <p:nvPr/>
        </p:nvSpPr>
        <p:spPr>
          <a:xfrm rot="7856596">
            <a:off x="3827374" y="3779779"/>
            <a:ext cx="6914911" cy="1848516"/>
          </a:xfrm>
          <a:custGeom>
            <a:rect b="b" l="l" r="r" t="t"/>
            <a:pathLst>
              <a:path extrusionOk="0" h="1849395" w="6918198">
                <a:moveTo>
                  <a:pt x="0" y="177784"/>
                </a:moveTo>
                <a:cubicBezTo>
                  <a:pt x="100203" y="107299"/>
                  <a:pt x="223456" y="52721"/>
                  <a:pt x="373190" y="27098"/>
                </a:cubicBezTo>
                <a:cubicBezTo>
                  <a:pt x="1479137" y="-161782"/>
                  <a:pt x="1810417" y="687371"/>
                  <a:pt x="1869472" y="1007316"/>
                </a:cubicBezTo>
                <a:cubicBezTo>
                  <a:pt x="1925193" y="1309163"/>
                  <a:pt x="2187416" y="1730549"/>
                  <a:pt x="2484311" y="1808273"/>
                </a:cubicBezTo>
                <a:cubicBezTo>
                  <a:pt x="2807970" y="1892951"/>
                  <a:pt x="3302413" y="1843421"/>
                  <a:pt x="3600450" y="1691306"/>
                </a:cubicBezTo>
                <a:cubicBezTo>
                  <a:pt x="4213860" y="1378315"/>
                  <a:pt x="4601242" y="500491"/>
                  <a:pt x="5218177" y="194453"/>
                </a:cubicBezTo>
                <a:cubicBezTo>
                  <a:pt x="5729002" y="-58912"/>
                  <a:pt x="6471762" y="-12621"/>
                  <a:pt x="6918198" y="239887"/>
                </a:cubicBezTo>
              </a:path>
            </a:pathLst>
          </a:custGeom>
          <a:noFill/>
          <a:ln cap="flat" cmpd="sng" w="38100">
            <a:solidFill>
              <a:schemeClr val="lt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7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0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/>
          <p:nvPr/>
        </p:nvSpPr>
        <p:spPr>
          <a:xfrm>
            <a:off x="138000" y="105900"/>
            <a:ext cx="8868000" cy="49317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/>
          <p:nvPr/>
        </p:nvSpPr>
        <p:spPr>
          <a:xfrm rot="-8835886">
            <a:off x="-2149138" y="2995075"/>
            <a:ext cx="6908506" cy="1846804"/>
          </a:xfrm>
          <a:custGeom>
            <a:rect b="b" l="l" r="r" t="t"/>
            <a:pathLst>
              <a:path extrusionOk="0" h="1849395" w="6918198">
                <a:moveTo>
                  <a:pt x="0" y="177784"/>
                </a:moveTo>
                <a:cubicBezTo>
                  <a:pt x="100203" y="107299"/>
                  <a:pt x="223456" y="52721"/>
                  <a:pt x="373190" y="27098"/>
                </a:cubicBezTo>
                <a:cubicBezTo>
                  <a:pt x="1479137" y="-161782"/>
                  <a:pt x="1810417" y="687371"/>
                  <a:pt x="1869472" y="1007316"/>
                </a:cubicBezTo>
                <a:cubicBezTo>
                  <a:pt x="1925193" y="1309163"/>
                  <a:pt x="2187416" y="1730549"/>
                  <a:pt x="2484311" y="1808273"/>
                </a:cubicBezTo>
                <a:cubicBezTo>
                  <a:pt x="2807970" y="1892951"/>
                  <a:pt x="3302413" y="1843421"/>
                  <a:pt x="3600450" y="1691306"/>
                </a:cubicBezTo>
                <a:cubicBezTo>
                  <a:pt x="4213860" y="1378315"/>
                  <a:pt x="4601242" y="500491"/>
                  <a:pt x="5218177" y="194453"/>
                </a:cubicBezTo>
                <a:cubicBezTo>
                  <a:pt x="5729002" y="-58912"/>
                  <a:pt x="6471762" y="-12621"/>
                  <a:pt x="6918198" y="239887"/>
                </a:cubicBezTo>
              </a:path>
            </a:pathLst>
          </a:custGeom>
          <a:noFill/>
          <a:ln cap="flat" cmpd="sng" w="38100">
            <a:solidFill>
              <a:schemeClr val="lt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0"/>
          <p:cNvSpPr/>
          <p:nvPr/>
        </p:nvSpPr>
        <p:spPr>
          <a:xfrm flipH="1" rot="-6221962">
            <a:off x="7144013" y="-2033732"/>
            <a:ext cx="3066332" cy="3440413"/>
          </a:xfrm>
          <a:custGeom>
            <a:rect b="b" l="l" r="r" t="t"/>
            <a:pathLst>
              <a:path extrusionOk="0" h="2566249" w="2287217">
                <a:moveTo>
                  <a:pt x="1719929" y="2566250"/>
                </a:moveTo>
                <a:cubicBezTo>
                  <a:pt x="1628204" y="2188012"/>
                  <a:pt x="1862900" y="1824633"/>
                  <a:pt x="2067592" y="1544693"/>
                </a:cubicBezTo>
                <a:cubicBezTo>
                  <a:pt x="2982278" y="294156"/>
                  <a:pt x="794480" y="-477464"/>
                  <a:pt x="0" y="332923"/>
                </a:cubicBezTo>
              </a:path>
            </a:pathLst>
          </a:custGeom>
          <a:noFill/>
          <a:ln cap="flat" cmpd="sng" w="38100">
            <a:solidFill>
              <a:schemeClr val="lt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723450" y="511025"/>
            <a:ext cx="76971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oulen"/>
              <a:buNone/>
              <a:defRPr sz="2800">
                <a:solidFill>
                  <a:schemeClr val="dk1"/>
                </a:solidFill>
                <a:latin typeface="Koulen"/>
                <a:ea typeface="Koulen"/>
                <a:cs typeface="Koulen"/>
                <a:sym typeface="Koulen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oulen"/>
              <a:buNone/>
              <a:defRPr sz="2800">
                <a:solidFill>
                  <a:schemeClr val="dk1"/>
                </a:solidFill>
                <a:latin typeface="Koulen"/>
                <a:ea typeface="Koulen"/>
                <a:cs typeface="Koulen"/>
                <a:sym typeface="Koulen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oulen"/>
              <a:buNone/>
              <a:defRPr sz="2800">
                <a:solidFill>
                  <a:schemeClr val="dk1"/>
                </a:solidFill>
                <a:latin typeface="Koulen"/>
                <a:ea typeface="Koulen"/>
                <a:cs typeface="Koulen"/>
                <a:sym typeface="Koulen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oulen"/>
              <a:buNone/>
              <a:defRPr sz="2800">
                <a:solidFill>
                  <a:schemeClr val="dk1"/>
                </a:solidFill>
                <a:latin typeface="Koulen"/>
                <a:ea typeface="Koulen"/>
                <a:cs typeface="Koulen"/>
                <a:sym typeface="Koulen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oulen"/>
              <a:buNone/>
              <a:defRPr sz="2800">
                <a:solidFill>
                  <a:schemeClr val="dk1"/>
                </a:solidFill>
                <a:latin typeface="Koulen"/>
                <a:ea typeface="Koulen"/>
                <a:cs typeface="Koulen"/>
                <a:sym typeface="Koulen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oulen"/>
              <a:buNone/>
              <a:defRPr sz="2800">
                <a:solidFill>
                  <a:schemeClr val="dk1"/>
                </a:solidFill>
                <a:latin typeface="Koulen"/>
                <a:ea typeface="Koulen"/>
                <a:cs typeface="Koulen"/>
                <a:sym typeface="Koulen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oulen"/>
              <a:buNone/>
              <a:defRPr sz="2800">
                <a:solidFill>
                  <a:schemeClr val="dk1"/>
                </a:solidFill>
                <a:latin typeface="Koulen"/>
                <a:ea typeface="Koulen"/>
                <a:cs typeface="Koulen"/>
                <a:sym typeface="Koulen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oulen"/>
              <a:buNone/>
              <a:defRPr sz="2800">
                <a:solidFill>
                  <a:schemeClr val="dk1"/>
                </a:solidFill>
                <a:latin typeface="Koulen"/>
                <a:ea typeface="Koulen"/>
                <a:cs typeface="Koulen"/>
                <a:sym typeface="Koulen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oulen"/>
              <a:buNone/>
              <a:defRPr sz="2800">
                <a:solidFill>
                  <a:schemeClr val="dk1"/>
                </a:solidFill>
                <a:latin typeface="Koulen"/>
                <a:ea typeface="Koulen"/>
                <a:cs typeface="Koulen"/>
                <a:sym typeface="Koulen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mo"/>
              <a:buChar char="●"/>
              <a:defRPr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1"/>
    <p:sldLayoutId id="214748366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bit.ly/3A1uf1Q" TargetMode="External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148840"/>
            <a:ext cx="7863840" cy="868680"/>
          </a:xfrm>
        </p:spPr>
        <p:txBody>
          <a:bodyPr wrap="square" anchor="ctr" tIns="0" bIns="0"/>
          <a:lstStyle/>
          <a:p>
            <a:pPr algn="ctr"/>
            <a:r>
              <a:rPr sz="4000" b="1" lang="ru-RU">
                <a:solidFill>
                  <a:srgbClr val="0E3A40"/>
                </a:solidFill>
                <a:latin typeface="Arial"/>
              </a:rPr>
              <a:t>Планировщик санаториев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051560"/>
            <a:ext cx="118872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108960"/>
            <a:ext cx="713232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3E646C"/>
                </a:solidFill>
                <a:latin typeface="Arial"/>
              </a:rPr>
              <a:t>Информационная система подбора и планирования курортно-санаторного отдыха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886200"/>
            <a:ext cx="71323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E3A40"/>
                </a:solidFill>
                <a:latin typeface="Arial"/>
              </a:rPr>
              <a:t>Django   ·   фильтры   ·   эмбеддинги   ·   OpenRouter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73168"/>
            <a:ext cx="7498079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lang="ru-RU">
                <a:solidFill>
                  <a:srgbClr val="3E646C"/>
                </a:solidFill>
                <a:latin typeface="Arial"/>
              </a:rPr>
              <a:t>sanatorium_planner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p38"/>
          <p:cNvSpPr txBox="1"/>
          <p:nvPr>
            <p:ph type="title"/>
          </p:nvPr>
        </p:nvSpPr>
        <p:spPr>
          <a:xfrm>
            <a:off x="713225" y="140225"/>
            <a:ext cx="7717800" cy="413100"/>
          </a:xfrm>
          <a:prstGeom prst="rect">
            <a:avLst/>
          </a:prstGeom>
        </p:spPr>
        <p:txBody>
          <a:bodyPr anchorCtr="0" anchor="t" bIns="20000" lIns="91425" spcFirstLastPara="1" rIns="91425" wrap="none" tIns="2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600" b="1" lang="ru-RU">
                <a:solidFill>
                  <a:srgbClr val="0E3A40"/>
                </a:solidFill>
                <a:latin typeface="Arial"/>
              </a:rPr>
              <a:t>Каталог есть, маршрута нет</a:t>
            </a:r>
            <a:endParaRPr/>
          </a:p>
        </p:txBody>
      </p:sp>
      <p:sp>
        <p:nvSpPr>
          <p:cNvPr id="1559" name="Rectangle 1558"/>
          <p:cNvSpPr/>
          <p:nvPr/>
        </p:nvSpPr>
        <p:spPr>
          <a:xfrm>
            <a:off x="365760" y="1024128"/>
            <a:ext cx="4133087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1A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0" name="Rectangle 1559"/>
          <p:cNvSpPr/>
          <p:nvPr/>
        </p:nvSpPr>
        <p:spPr>
          <a:xfrm>
            <a:off x="365760" y="1024128"/>
            <a:ext cx="4133087" cy="310896"/>
          </a:xfrm>
          <a:prstGeom prst="rect">
            <a:avLst/>
          </a:prstGeom>
          <a:solidFill>
            <a:srgbClr val="F3E6D0"/>
          </a:solidFill>
          <a:ln w="9525">
            <a:solidFill>
              <a:srgbClr val="1A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1" name="TextBox 1560"/>
          <p:cNvSpPr txBox="1"/>
          <p:nvPr/>
        </p:nvSpPr>
        <p:spPr>
          <a:xfrm>
            <a:off x="438912" y="1060704"/>
            <a:ext cx="3986783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lang="ru-RU">
                <a:solidFill>
                  <a:srgbClr val="0E3A40"/>
                </a:solidFill>
                <a:latin typeface="Arial"/>
              </a:rPr>
              <a:t>Как выбирают сейчас</a:t>
            </a:r>
          </a:p>
        </p:txBody>
      </p:sp>
      <p:sp>
        <p:nvSpPr>
          <p:cNvPr id="1562" name="TextBox 1561"/>
          <p:cNvSpPr txBox="1"/>
          <p:nvPr/>
        </p:nvSpPr>
        <p:spPr>
          <a:xfrm>
            <a:off x="457200" y="1408176"/>
            <a:ext cx="3950207" cy="2240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lang="ru-RU">
                <a:solidFill>
                  <a:srgbClr val="0E3A40"/>
                </a:solidFill>
                <a:latin typeface="Arial"/>
              </a:rPr>
              <a:t>Корпуса одного санатория лежат на разных страницах.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lang="ru-RU">
                <a:solidFill>
                  <a:srgbClr val="0E3A40"/>
                </a:solidFill>
                <a:latin typeface="Arial"/>
              </a:rPr>
              <a:t>Процедуры, экскурсии и цену сравнивают вручную.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lang="ru-RU">
                <a:solidFill>
                  <a:srgbClr val="0E3A40"/>
                </a:solidFill>
                <a:latin typeface="Arial"/>
              </a:rPr>
              <a:t>Бюджет за сутки смешивают с ценой всей путёвки.</a:t>
            </a:r>
          </a:p>
        </p:txBody>
      </p:sp>
      <p:sp>
        <p:nvSpPr>
          <p:cNvPr id="1563" name="Rectangle 1562"/>
          <p:cNvSpPr/>
          <p:nvPr/>
        </p:nvSpPr>
        <p:spPr>
          <a:xfrm>
            <a:off x="4645152" y="1024128"/>
            <a:ext cx="4133087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1A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4" name="Rectangle 1563"/>
          <p:cNvSpPr/>
          <p:nvPr/>
        </p:nvSpPr>
        <p:spPr>
          <a:xfrm>
            <a:off x="4645152" y="1024128"/>
            <a:ext cx="4133087" cy="310896"/>
          </a:xfrm>
          <a:prstGeom prst="rect">
            <a:avLst/>
          </a:prstGeom>
          <a:solidFill>
            <a:srgbClr val="F3E6D0"/>
          </a:solidFill>
          <a:ln w="9525">
            <a:solidFill>
              <a:srgbClr val="1A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5" name="TextBox 1564"/>
          <p:cNvSpPr txBox="1"/>
          <p:nvPr/>
        </p:nvSpPr>
        <p:spPr>
          <a:xfrm>
            <a:off x="4718304" y="1060704"/>
            <a:ext cx="3986783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lang="ru-RU">
                <a:solidFill>
                  <a:srgbClr val="0E3A40"/>
                </a:solidFill>
                <a:latin typeface="Arial"/>
              </a:rPr>
              <a:t>Шесть пунктов задания</a:t>
            </a:r>
          </a:p>
        </p:txBody>
      </p:sp>
      <p:sp>
        <p:nvSpPr>
          <p:cNvPr id="1566" name="TextBox 1565"/>
          <p:cNvSpPr txBox="1"/>
          <p:nvPr/>
        </p:nvSpPr>
        <p:spPr>
          <a:xfrm>
            <a:off x="4736592" y="1408176"/>
            <a:ext cx="3950207" cy="2240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lang="ru-RU">
                <a:solidFill>
                  <a:srgbClr val="0E3A40"/>
                </a:solidFill>
                <a:latin typeface="Arial"/>
              </a:rPr>
              <a:t>1   Процедуры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lang="ru-RU">
                <a:solidFill>
                  <a:srgbClr val="0E3A40"/>
                </a:solidFill>
                <a:latin typeface="Arial"/>
              </a:rPr>
              <a:t>2   Экскурсии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lang="ru-RU">
                <a:solidFill>
                  <a:srgbClr val="0E3A40"/>
                </a:solidFill>
                <a:latin typeface="Arial"/>
              </a:rPr>
              <a:t>3   Локация и транспорт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lang="ru-RU">
                <a:solidFill>
                  <a:srgbClr val="0E3A40"/>
                </a:solidFill>
                <a:latin typeface="Arial"/>
              </a:rPr>
              <a:t>4   Стоимость за сутки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lang="ru-RU">
                <a:solidFill>
                  <a:srgbClr val="0E3A40"/>
                </a:solidFill>
                <a:latin typeface="Arial"/>
              </a:rPr>
              <a:t>5   Несколько площадок учреждения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lang="ru-RU">
                <a:solidFill>
                  <a:srgbClr val="0E3A40"/>
                </a:solidFill>
                <a:latin typeface="Arial"/>
              </a:rPr>
              <a:t>6   Сезон, доступность, рейтинг</a:t>
            </a:r>
          </a:p>
        </p:txBody>
      </p:sp>
      <p:sp>
        <p:nvSpPr>
          <p:cNvPr id="1567" name="TextBox 1566"/>
          <p:cNvSpPr txBox="1"/>
          <p:nvPr/>
        </p:nvSpPr>
        <p:spPr>
          <a:xfrm>
            <a:off x="822960" y="4773168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 lang="ru-RU">
                <a:solidFill>
                  <a:srgbClr val="3E646C"/>
                </a:solidFill>
                <a:latin typeface="Arial"/>
              </a:rPr>
              <a:t>sanatorium_planner   ·   2 / 7</a:t>
            </a:r>
          </a:p>
        </p:txBody>
      </p:sp>
      <p:pic>
        <p:nvPicPr>
          <p:cNvPr id="1568" name="Picture 1567" descr="s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14630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p38"/>
          <p:cNvSpPr txBox="1"/>
          <p:nvPr>
            <p:ph type="title"/>
          </p:nvPr>
        </p:nvSpPr>
        <p:spPr>
          <a:xfrm>
            <a:off x="713225" y="140225"/>
            <a:ext cx="7717800" cy="413100"/>
          </a:xfrm>
          <a:prstGeom prst="rect">
            <a:avLst/>
          </a:prstGeom>
        </p:spPr>
        <p:txBody>
          <a:bodyPr anchorCtr="0" anchor="t" bIns="20000" lIns="91425" spcFirstLastPara="1" rIns="91425" wrap="none" tIns="2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600" b="1" lang="ru-RU">
                <a:solidFill>
                  <a:srgbClr val="0E3A40"/>
                </a:solidFill>
                <a:latin typeface="Arial"/>
              </a:rPr>
              <a:t>Один запрос собирает маршрут</a:t>
            </a:r>
            <a:endParaRPr/>
          </a:p>
        </p:txBody>
      </p:sp>
      <p:sp>
        <p:nvSpPr>
          <p:cNvPr id="1558" name="TextBox 1557"/>
          <p:cNvSpPr txBox="1"/>
          <p:nvPr/>
        </p:nvSpPr>
        <p:spPr>
          <a:xfrm>
            <a:off x="365760" y="530352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lang="ru-RU">
                <a:solidFill>
                  <a:srgbClr val="3E646C"/>
                </a:solidFill>
                <a:latin typeface="Arial"/>
              </a:rPr>
              <a:t>Django  ·  фильтры  ·  эмбеддинги  ·  LLM через OpenRouter</a:t>
            </a:r>
          </a:p>
        </p:txBody>
      </p:sp>
      <p:sp>
        <p:nvSpPr>
          <p:cNvPr id="1559" name="Rectangle 1558"/>
          <p:cNvSpPr/>
          <p:nvPr/>
        </p:nvSpPr>
        <p:spPr>
          <a:xfrm>
            <a:off x="365760" y="877824"/>
            <a:ext cx="2007107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1A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0" name="Rectangle 1559"/>
          <p:cNvSpPr/>
          <p:nvPr/>
        </p:nvSpPr>
        <p:spPr>
          <a:xfrm>
            <a:off x="365760" y="877824"/>
            <a:ext cx="2007107" cy="310896"/>
          </a:xfrm>
          <a:prstGeom prst="rect">
            <a:avLst/>
          </a:prstGeom>
          <a:solidFill>
            <a:srgbClr val="F3E6D0"/>
          </a:solidFill>
          <a:ln w="9525">
            <a:solidFill>
              <a:srgbClr val="1A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1" name="TextBox 1560"/>
          <p:cNvSpPr txBox="1"/>
          <p:nvPr/>
        </p:nvSpPr>
        <p:spPr>
          <a:xfrm>
            <a:off x="438912" y="914400"/>
            <a:ext cx="1860803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lang="ru-RU">
                <a:solidFill>
                  <a:srgbClr val="0E3A40"/>
                </a:solidFill>
                <a:latin typeface="Arial"/>
              </a:rPr>
              <a:t>Процедуры</a:t>
            </a:r>
          </a:p>
        </p:txBody>
      </p:sp>
      <p:sp>
        <p:nvSpPr>
          <p:cNvPr id="1562" name="TextBox 1561"/>
          <p:cNvSpPr txBox="1"/>
          <p:nvPr/>
        </p:nvSpPr>
        <p:spPr>
          <a:xfrm>
            <a:off x="457200" y="1261872"/>
            <a:ext cx="1824228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lang="ru-RU">
                <a:solidFill>
                  <a:srgbClr val="0E3A40"/>
                </a:solidFill>
                <a:latin typeface="Arial"/>
              </a:rPr>
              <a:t>Текст на площадке и в запросе.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lang="ru-RU">
                <a:solidFill>
                  <a:srgbClr val="0E3A40"/>
                </a:solidFill>
                <a:latin typeface="Arial"/>
              </a:rPr>
              <a:t>Вес в оценке: 0,20.</a:t>
            </a:r>
          </a:p>
        </p:txBody>
      </p:sp>
      <p:sp>
        <p:nvSpPr>
          <p:cNvPr id="1563" name="Rectangle 1562"/>
          <p:cNvSpPr/>
          <p:nvPr/>
        </p:nvSpPr>
        <p:spPr>
          <a:xfrm>
            <a:off x="2500884" y="877824"/>
            <a:ext cx="2007107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1A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4" name="Rectangle 1563"/>
          <p:cNvSpPr/>
          <p:nvPr/>
        </p:nvSpPr>
        <p:spPr>
          <a:xfrm>
            <a:off x="2500884" y="877824"/>
            <a:ext cx="2007107" cy="310896"/>
          </a:xfrm>
          <a:prstGeom prst="rect">
            <a:avLst/>
          </a:prstGeom>
          <a:solidFill>
            <a:srgbClr val="F3E6D0"/>
          </a:solidFill>
          <a:ln w="9525">
            <a:solidFill>
              <a:srgbClr val="1A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5" name="TextBox 1564"/>
          <p:cNvSpPr txBox="1"/>
          <p:nvPr/>
        </p:nvSpPr>
        <p:spPr>
          <a:xfrm>
            <a:off x="2574036" y="914400"/>
            <a:ext cx="1860803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lang="ru-RU">
                <a:solidFill>
                  <a:srgbClr val="0E3A40"/>
                </a:solidFill>
                <a:latin typeface="Arial"/>
              </a:rPr>
              <a:t>Экскурсии</a:t>
            </a:r>
          </a:p>
        </p:txBody>
      </p:sp>
      <p:sp>
        <p:nvSpPr>
          <p:cNvPr id="1566" name="TextBox 1565"/>
          <p:cNvSpPr txBox="1"/>
          <p:nvPr/>
        </p:nvSpPr>
        <p:spPr>
          <a:xfrm>
            <a:off x="2592324" y="1261872"/>
            <a:ext cx="1824228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lang="ru-RU">
                <a:solidFill>
                  <a:srgbClr val="0E3A40"/>
                </a:solidFill>
                <a:latin typeface="Arial"/>
              </a:rPr>
              <a:t>Текст на площадке и в запросе.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lang="ru-RU">
                <a:solidFill>
                  <a:srgbClr val="0E3A40"/>
                </a:solidFill>
                <a:latin typeface="Arial"/>
              </a:rPr>
              <a:t>Вес в оценке: 0,10.</a:t>
            </a:r>
          </a:p>
        </p:txBody>
      </p:sp>
      <p:sp>
        <p:nvSpPr>
          <p:cNvPr id="1567" name="Rectangle 1566"/>
          <p:cNvSpPr/>
          <p:nvPr/>
        </p:nvSpPr>
        <p:spPr>
          <a:xfrm>
            <a:off x="4636008" y="877824"/>
            <a:ext cx="2007107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1A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8" name="Rectangle 1567"/>
          <p:cNvSpPr/>
          <p:nvPr/>
        </p:nvSpPr>
        <p:spPr>
          <a:xfrm>
            <a:off x="4636008" y="877824"/>
            <a:ext cx="2007107" cy="310896"/>
          </a:xfrm>
          <a:prstGeom prst="rect">
            <a:avLst/>
          </a:prstGeom>
          <a:solidFill>
            <a:srgbClr val="F3E6D0"/>
          </a:solidFill>
          <a:ln w="9525">
            <a:solidFill>
              <a:srgbClr val="1A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9" name="TextBox 1568"/>
          <p:cNvSpPr txBox="1"/>
          <p:nvPr/>
        </p:nvSpPr>
        <p:spPr>
          <a:xfrm>
            <a:off x="4709160" y="914400"/>
            <a:ext cx="1860803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lang="ru-RU">
                <a:solidFill>
                  <a:srgbClr val="0E3A40"/>
                </a:solidFill>
                <a:latin typeface="Arial"/>
              </a:rPr>
              <a:t>Локация и транспорт</a:t>
            </a:r>
          </a:p>
        </p:txBody>
      </p:sp>
      <p:sp>
        <p:nvSpPr>
          <p:cNvPr id="1570" name="TextBox 1569"/>
          <p:cNvSpPr txBox="1"/>
          <p:nvPr/>
        </p:nvSpPr>
        <p:spPr>
          <a:xfrm>
            <a:off x="4727448" y="1261872"/>
            <a:ext cx="1824228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lang="ru-RU">
                <a:solidFill>
                  <a:srgbClr val="0E3A40"/>
                </a:solidFill>
                <a:latin typeface="Arial"/>
              </a:rPr>
              <a:t>Адрес и карта Яндекса.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lang="ru-RU">
                <a:solidFill>
                  <a:srgbClr val="0E3A40"/>
                </a:solidFill>
                <a:latin typeface="Arial"/>
              </a:rPr>
              <a:t>Транспорт 1–5, вес 0,10.</a:t>
            </a:r>
          </a:p>
        </p:txBody>
      </p:sp>
      <p:sp>
        <p:nvSpPr>
          <p:cNvPr id="1571" name="Rectangle 1570"/>
          <p:cNvSpPr/>
          <p:nvPr/>
        </p:nvSpPr>
        <p:spPr>
          <a:xfrm>
            <a:off x="6771132" y="877824"/>
            <a:ext cx="2007107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1A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2" name="Rectangle 1571"/>
          <p:cNvSpPr/>
          <p:nvPr/>
        </p:nvSpPr>
        <p:spPr>
          <a:xfrm>
            <a:off x="6771132" y="877824"/>
            <a:ext cx="2007107" cy="310896"/>
          </a:xfrm>
          <a:prstGeom prst="rect">
            <a:avLst/>
          </a:prstGeom>
          <a:solidFill>
            <a:srgbClr val="F3E6D0"/>
          </a:solidFill>
          <a:ln w="9525">
            <a:solidFill>
              <a:srgbClr val="1A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3" name="TextBox 1572"/>
          <p:cNvSpPr txBox="1"/>
          <p:nvPr/>
        </p:nvSpPr>
        <p:spPr>
          <a:xfrm>
            <a:off x="6844284" y="914400"/>
            <a:ext cx="1860803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lang="ru-RU">
                <a:solidFill>
                  <a:srgbClr val="0E3A40"/>
                </a:solidFill>
                <a:latin typeface="Arial"/>
              </a:rPr>
              <a:t>Стоимость</a:t>
            </a:r>
          </a:p>
        </p:txBody>
      </p:sp>
      <p:sp>
        <p:nvSpPr>
          <p:cNvPr id="1574" name="TextBox 1573"/>
          <p:cNvSpPr txBox="1"/>
          <p:nvPr/>
        </p:nvSpPr>
        <p:spPr>
          <a:xfrm>
            <a:off x="6862572" y="1261872"/>
            <a:ext cx="1824228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lang="ru-RU">
                <a:solidFill>
                  <a:srgbClr val="0E3A40"/>
                </a:solidFill>
                <a:latin typeface="Arial"/>
              </a:rPr>
              <a:t>Цена за сутки, мин. и макс.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lang="ru-RU">
                <a:solidFill>
                  <a:srgbClr val="0E3A40"/>
                </a:solidFill>
                <a:latin typeface="Arial"/>
              </a:rPr>
              <a:t>Бюджет — жёсткий потолок.</a:t>
            </a:r>
          </a:p>
        </p:txBody>
      </p:sp>
      <p:sp>
        <p:nvSpPr>
          <p:cNvPr id="1575" name="Rectangle 1574"/>
          <p:cNvSpPr/>
          <p:nvPr/>
        </p:nvSpPr>
        <p:spPr>
          <a:xfrm>
            <a:off x="365760" y="2414016"/>
            <a:ext cx="8412480" cy="1051560"/>
          </a:xfrm>
          <a:prstGeom prst="rect">
            <a:avLst/>
          </a:prstGeom>
          <a:solidFill>
            <a:srgbClr val="F3E6D0"/>
          </a:solidFill>
          <a:ln w="9525">
            <a:solidFill>
              <a:srgbClr val="1A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6" name="TextBox 1575"/>
          <p:cNvSpPr txBox="1"/>
          <p:nvPr/>
        </p:nvSpPr>
        <p:spPr>
          <a:xfrm>
            <a:off x="512064" y="2542032"/>
            <a:ext cx="3931920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lang="ru-RU">
                <a:solidFill>
                  <a:srgbClr val="0E3A40"/>
                </a:solidFill>
                <a:latin typeface="Arial"/>
              </a:rPr>
              <a:t>Свои параметры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lang="ru-RU">
                <a:solidFill>
                  <a:srgbClr val="0E3A40"/>
                </a:solidFill>
                <a:latin typeface="Arial"/>
              </a:rPr>
              <a:t>Сезон, доступность, рейтинг 0–5.</a:t>
            </a:r>
          </a:p>
        </p:txBody>
      </p:sp>
      <p:sp>
        <p:nvSpPr>
          <p:cNvPr id="1577" name="TextBox 1576"/>
          <p:cNvSpPr txBox="1"/>
          <p:nvPr/>
        </p:nvSpPr>
        <p:spPr>
          <a:xfrm>
            <a:off x="4617720" y="2542032"/>
            <a:ext cx="3977639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lang="ru-RU">
                <a:solidFill>
                  <a:srgbClr val="0E3A40"/>
                </a:solidFill>
                <a:latin typeface="Arial"/>
              </a:rPr>
              <a:t>Несколько площадок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lang="ru-RU">
                <a:solidFill>
                  <a:srgbClr val="0E3A40"/>
                </a:solidFill>
                <a:latin typeface="Arial"/>
              </a:rPr>
              <a:t>Одно имя — несколько адресов.</a:t>
            </a:r>
          </a:p>
        </p:txBody>
      </p:sp>
      <p:sp>
        <p:nvSpPr>
          <p:cNvPr id="1578" name="TextBox 1577"/>
          <p:cNvSpPr txBox="1"/>
          <p:nvPr/>
        </p:nvSpPr>
        <p:spPr>
          <a:xfrm>
            <a:off x="822960" y="4773168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 lang="ru-RU">
                <a:solidFill>
                  <a:srgbClr val="3E646C"/>
                </a:solidFill>
                <a:latin typeface="Arial"/>
              </a:rPr>
              <a:t>sanatorium_planner   ·   3 / 7</a:t>
            </a:r>
          </a:p>
        </p:txBody>
      </p:sp>
      <p:pic>
        <p:nvPicPr>
          <p:cNvPr id="1579" name="Picture 1578" descr="s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p38"/>
          <p:cNvSpPr txBox="1"/>
          <p:nvPr>
            <p:ph type="title"/>
          </p:nvPr>
        </p:nvSpPr>
        <p:spPr>
          <a:xfrm>
            <a:off x="713225" y="140225"/>
            <a:ext cx="7717800" cy="413100"/>
          </a:xfrm>
          <a:prstGeom prst="rect">
            <a:avLst/>
          </a:prstGeom>
        </p:spPr>
        <p:txBody>
          <a:bodyPr anchorCtr="0" anchor="t" bIns="20000" lIns="91425" spcFirstLastPara="1" rIns="91425" wrap="none" tIns="2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600" b="1" lang="ru-RU">
                <a:solidFill>
                  <a:srgbClr val="0E3A40"/>
                </a:solidFill>
                <a:latin typeface="Arial"/>
              </a:rPr>
              <a:t>Четыре шага подбора</a:t>
            </a:r>
            <a:endParaRPr/>
          </a:p>
        </p:txBody>
      </p:sp>
      <p:sp>
        <p:nvSpPr>
          <p:cNvPr id="1558" name="Rectangle 1557"/>
          <p:cNvSpPr/>
          <p:nvPr/>
        </p:nvSpPr>
        <p:spPr>
          <a:xfrm>
            <a:off x="365760" y="713232"/>
            <a:ext cx="1911095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1A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9" name="Rectangle 1558"/>
          <p:cNvSpPr/>
          <p:nvPr/>
        </p:nvSpPr>
        <p:spPr>
          <a:xfrm>
            <a:off x="365760" y="713232"/>
            <a:ext cx="1911095" cy="585216"/>
          </a:xfrm>
          <a:prstGeom prst="rect">
            <a:avLst/>
          </a:prstGeom>
          <a:solidFill>
            <a:srgbClr val="0E4A52"/>
          </a:solidFill>
          <a:ln w="9525">
            <a:solidFill>
              <a:srgbClr val="0E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0" name="TextBox 1559"/>
          <p:cNvSpPr txBox="1"/>
          <p:nvPr/>
        </p:nvSpPr>
        <p:spPr>
          <a:xfrm>
            <a:off x="438912" y="749808"/>
            <a:ext cx="1764792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lang="ru-RU">
                <a:solidFill>
                  <a:srgbClr val="F3E6D0"/>
                </a:solidFill>
                <a:latin typeface="Arial"/>
              </a:rPr>
              <a:t>01</a:t>
            </a:r>
          </a:p>
        </p:txBody>
      </p:sp>
      <p:sp>
        <p:nvSpPr>
          <p:cNvPr id="1561" name="TextBox 1560"/>
          <p:cNvSpPr txBox="1"/>
          <p:nvPr/>
        </p:nvSpPr>
        <p:spPr>
          <a:xfrm>
            <a:off x="438912" y="950976"/>
            <a:ext cx="1764792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lang="ru-RU">
                <a:solidFill>
                  <a:srgbClr val="FFFFFF"/>
                </a:solidFill>
                <a:latin typeface="Arial"/>
              </a:rPr>
              <a:t>Предпочтения</a:t>
            </a:r>
          </a:p>
        </p:txBody>
      </p:sp>
      <p:sp>
        <p:nvSpPr>
          <p:cNvPr id="1562" name="TextBox 1561"/>
          <p:cNvSpPr txBox="1"/>
          <p:nvPr/>
        </p:nvSpPr>
        <p:spPr>
          <a:xfrm>
            <a:off x="457200" y="1389888"/>
            <a:ext cx="1746504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lang="ru-RU">
                <a:solidFill>
                  <a:srgbClr val="0E3A40"/>
                </a:solidFill>
                <a:latin typeface="Arial"/>
              </a:rPr>
              <a:t>Бюджет, регион,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lang="ru-RU">
                <a:solidFill>
                  <a:srgbClr val="0E3A40"/>
                </a:solidFill>
                <a:latin typeface="Arial"/>
              </a:rPr>
              <a:t>процедуры, экскурсии.</a:t>
            </a:r>
          </a:p>
        </p:txBody>
      </p:sp>
      <p:sp>
        <p:nvSpPr>
          <p:cNvPr id="1563" name="Right Arrow 1562"/>
          <p:cNvSpPr/>
          <p:nvPr/>
        </p:nvSpPr>
        <p:spPr>
          <a:xfrm>
            <a:off x="2313432" y="1591056"/>
            <a:ext cx="182880" cy="146304"/>
          </a:xfrm>
          <a:prstGeom prst="rightArrow">
            <a:avLst/>
          </a:prstGeom>
          <a:solidFill>
            <a:srgbClr val="C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4" name="Rectangle 1563"/>
          <p:cNvSpPr/>
          <p:nvPr/>
        </p:nvSpPr>
        <p:spPr>
          <a:xfrm>
            <a:off x="2532888" y="713232"/>
            <a:ext cx="1911095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1A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5" name="Rectangle 1564"/>
          <p:cNvSpPr/>
          <p:nvPr/>
        </p:nvSpPr>
        <p:spPr>
          <a:xfrm>
            <a:off x="2532888" y="713232"/>
            <a:ext cx="1911095" cy="585216"/>
          </a:xfrm>
          <a:prstGeom prst="rect">
            <a:avLst/>
          </a:prstGeom>
          <a:solidFill>
            <a:srgbClr val="0E4A52"/>
          </a:solidFill>
          <a:ln w="9525">
            <a:solidFill>
              <a:srgbClr val="0E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6" name="TextBox 1565"/>
          <p:cNvSpPr txBox="1"/>
          <p:nvPr/>
        </p:nvSpPr>
        <p:spPr>
          <a:xfrm>
            <a:off x="2606040" y="749808"/>
            <a:ext cx="1764792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lang="ru-RU">
                <a:solidFill>
                  <a:srgbClr val="F3E6D0"/>
                </a:solidFill>
                <a:latin typeface="Arial"/>
              </a:rPr>
              <a:t>02</a:t>
            </a:r>
          </a:p>
        </p:txBody>
      </p:sp>
      <p:sp>
        <p:nvSpPr>
          <p:cNvPr id="1567" name="TextBox 1566"/>
          <p:cNvSpPr txBox="1"/>
          <p:nvPr/>
        </p:nvSpPr>
        <p:spPr>
          <a:xfrm>
            <a:off x="2606040" y="950976"/>
            <a:ext cx="1764792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lang="ru-RU">
                <a:solidFill>
                  <a:srgbClr val="FFFFFF"/>
                </a:solidFill>
                <a:latin typeface="Arial"/>
              </a:rPr>
              <a:t>Фильтр</a:t>
            </a:r>
          </a:p>
        </p:txBody>
      </p:sp>
      <p:sp>
        <p:nvSpPr>
          <p:cNvPr id="1568" name="TextBox 1567"/>
          <p:cNvSpPr txBox="1"/>
          <p:nvPr/>
        </p:nvSpPr>
        <p:spPr>
          <a:xfrm>
            <a:off x="2624328" y="1389888"/>
            <a:ext cx="1746504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lang="ru-RU">
                <a:solidFill>
                  <a:srgbClr val="0E3A40"/>
                </a:solidFill>
                <a:latin typeface="Arial"/>
              </a:rPr>
              <a:t>Цена и адрес.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lang="ru-RU">
                <a:solidFill>
                  <a:srgbClr val="0E3A40"/>
                </a:solidFill>
                <a:latin typeface="Arial"/>
              </a:rPr>
              <a:t>Сезон и доступность — по аргументу.</a:t>
            </a:r>
          </a:p>
        </p:txBody>
      </p:sp>
      <p:sp>
        <p:nvSpPr>
          <p:cNvPr id="1569" name="Right Arrow 1568"/>
          <p:cNvSpPr/>
          <p:nvPr/>
        </p:nvSpPr>
        <p:spPr>
          <a:xfrm>
            <a:off x="4480559" y="1591056"/>
            <a:ext cx="182880" cy="146304"/>
          </a:xfrm>
          <a:prstGeom prst="rightArrow">
            <a:avLst/>
          </a:prstGeom>
          <a:solidFill>
            <a:srgbClr val="C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0" name="Rectangle 1569"/>
          <p:cNvSpPr/>
          <p:nvPr/>
        </p:nvSpPr>
        <p:spPr>
          <a:xfrm>
            <a:off x="4700016" y="713232"/>
            <a:ext cx="1911095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1A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1" name="Rectangle 1570"/>
          <p:cNvSpPr/>
          <p:nvPr/>
        </p:nvSpPr>
        <p:spPr>
          <a:xfrm>
            <a:off x="4700016" y="713232"/>
            <a:ext cx="1911095" cy="585216"/>
          </a:xfrm>
          <a:prstGeom prst="rect">
            <a:avLst/>
          </a:prstGeom>
          <a:solidFill>
            <a:srgbClr val="0E4A52"/>
          </a:solidFill>
          <a:ln w="9525">
            <a:solidFill>
              <a:srgbClr val="0E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2" name="TextBox 1571"/>
          <p:cNvSpPr txBox="1"/>
          <p:nvPr/>
        </p:nvSpPr>
        <p:spPr>
          <a:xfrm>
            <a:off x="4773168" y="749808"/>
            <a:ext cx="1764792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lang="ru-RU">
                <a:solidFill>
                  <a:srgbClr val="F3E6D0"/>
                </a:solidFill>
                <a:latin typeface="Arial"/>
              </a:rPr>
              <a:t>03</a:t>
            </a:r>
          </a:p>
        </p:txBody>
      </p:sp>
      <p:sp>
        <p:nvSpPr>
          <p:cNvPr id="1573" name="TextBox 1572"/>
          <p:cNvSpPr txBox="1"/>
          <p:nvPr/>
        </p:nvSpPr>
        <p:spPr>
          <a:xfrm>
            <a:off x="4773168" y="950976"/>
            <a:ext cx="1764792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lang="ru-RU">
                <a:solidFill>
                  <a:srgbClr val="FFFFFF"/>
                </a:solidFill>
                <a:latin typeface="Arial"/>
              </a:rPr>
              <a:t>Эмбеддинги</a:t>
            </a:r>
          </a:p>
        </p:txBody>
      </p:sp>
      <p:sp>
        <p:nvSpPr>
          <p:cNvPr id="1574" name="TextBox 1573"/>
          <p:cNvSpPr txBox="1"/>
          <p:nvPr/>
        </p:nvSpPr>
        <p:spPr>
          <a:xfrm>
            <a:off x="4791456" y="1389888"/>
            <a:ext cx="1746504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lang="ru-RU">
                <a:solidFill>
                  <a:srgbClr val="0E3A40"/>
                </a:solidFill>
                <a:latin typeface="Arial"/>
              </a:rPr>
              <a:t>Смысл текста площадки.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lang="ru-RU">
                <a:solidFill>
                  <a:srgbClr val="0E3A40"/>
                </a:solidFill>
                <a:latin typeface="Arial"/>
              </a:rPr>
              <a:t>Без цены и транспорта.</a:t>
            </a:r>
          </a:p>
        </p:txBody>
      </p:sp>
      <p:sp>
        <p:nvSpPr>
          <p:cNvPr id="1575" name="Right Arrow 1574"/>
          <p:cNvSpPr/>
          <p:nvPr/>
        </p:nvSpPr>
        <p:spPr>
          <a:xfrm>
            <a:off x="6647688" y="1591056"/>
            <a:ext cx="182880" cy="146304"/>
          </a:xfrm>
          <a:prstGeom prst="rightArrow">
            <a:avLst/>
          </a:prstGeom>
          <a:solidFill>
            <a:srgbClr val="C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6" name="Rectangle 1575"/>
          <p:cNvSpPr/>
          <p:nvPr/>
        </p:nvSpPr>
        <p:spPr>
          <a:xfrm>
            <a:off x="6867144" y="713232"/>
            <a:ext cx="1911095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1A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7" name="Rectangle 1576"/>
          <p:cNvSpPr/>
          <p:nvPr/>
        </p:nvSpPr>
        <p:spPr>
          <a:xfrm>
            <a:off x="6867144" y="713232"/>
            <a:ext cx="1911095" cy="585216"/>
          </a:xfrm>
          <a:prstGeom prst="rect">
            <a:avLst/>
          </a:prstGeom>
          <a:solidFill>
            <a:srgbClr val="0E4A52"/>
          </a:solidFill>
          <a:ln w="9525">
            <a:solidFill>
              <a:srgbClr val="0E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8" name="TextBox 1577"/>
          <p:cNvSpPr txBox="1"/>
          <p:nvPr/>
        </p:nvSpPr>
        <p:spPr>
          <a:xfrm>
            <a:off x="6940296" y="749808"/>
            <a:ext cx="1764792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lang="ru-RU">
                <a:solidFill>
                  <a:srgbClr val="F3E6D0"/>
                </a:solidFill>
                <a:latin typeface="Arial"/>
              </a:rPr>
              <a:t>04</a:t>
            </a:r>
          </a:p>
        </p:txBody>
      </p:sp>
      <p:sp>
        <p:nvSpPr>
          <p:cNvPr id="1579" name="TextBox 1578"/>
          <p:cNvSpPr txBox="1"/>
          <p:nvPr/>
        </p:nvSpPr>
        <p:spPr>
          <a:xfrm>
            <a:off x="6940296" y="950976"/>
            <a:ext cx="1764792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lang="ru-RU">
                <a:solidFill>
                  <a:srgbClr val="FFFFFF"/>
                </a:solidFill>
                <a:latin typeface="Arial"/>
              </a:rPr>
              <a:t>LLM-план</a:t>
            </a:r>
          </a:p>
        </p:txBody>
      </p:sp>
      <p:sp>
        <p:nvSpPr>
          <p:cNvPr id="1580" name="TextBox 1579"/>
          <p:cNvSpPr txBox="1"/>
          <p:nvPr/>
        </p:nvSpPr>
        <p:spPr>
          <a:xfrm>
            <a:off x="6958584" y="1389888"/>
            <a:ext cx="1746504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lang="ru-RU">
                <a:solidFill>
                  <a:srgbClr val="0E3A40"/>
                </a:solidFill>
                <a:latin typeface="Arial"/>
              </a:rPr>
              <a:t>Пояснение и маршрут.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lang="ru-RU">
                <a:solidFill>
                  <a:srgbClr val="0E3A40"/>
                </a:solidFill>
                <a:latin typeface="Arial"/>
              </a:rPr>
              <a:t>Не больше пяти площадок.</a:t>
            </a:r>
          </a:p>
        </p:txBody>
      </p:sp>
      <p:sp>
        <p:nvSpPr>
          <p:cNvPr id="1581" name="Rectangle 1580"/>
          <p:cNvSpPr/>
          <p:nvPr/>
        </p:nvSpPr>
        <p:spPr>
          <a:xfrm>
            <a:off x="365760" y="2560320"/>
            <a:ext cx="1341120" cy="841248"/>
          </a:xfrm>
          <a:prstGeom prst="rect">
            <a:avLst/>
          </a:prstGeom>
          <a:solidFill>
            <a:srgbClr val="F3E6D0"/>
          </a:solidFill>
          <a:ln w="9525">
            <a:solidFill>
              <a:srgbClr val="1A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2" name="TextBox 1581"/>
          <p:cNvSpPr txBox="1"/>
          <p:nvPr/>
        </p:nvSpPr>
        <p:spPr>
          <a:xfrm>
            <a:off x="402336" y="2615184"/>
            <a:ext cx="1267967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lang="ru-RU">
                <a:solidFill>
                  <a:srgbClr val="0E3A40"/>
                </a:solidFill>
                <a:latin typeface="Arial"/>
              </a:rPr>
              <a:t>0,45</a:t>
            </a:r>
          </a:p>
        </p:txBody>
      </p:sp>
      <p:sp>
        <p:nvSpPr>
          <p:cNvPr id="1583" name="TextBox 1582"/>
          <p:cNvSpPr txBox="1"/>
          <p:nvPr/>
        </p:nvSpPr>
        <p:spPr>
          <a:xfrm>
            <a:off x="402336" y="3035808"/>
            <a:ext cx="1267967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lang="ru-RU">
                <a:solidFill>
                  <a:srgbClr val="3E646C"/>
                </a:solidFill>
                <a:latin typeface="Arial"/>
              </a:rPr>
              <a:t>похожесть</a:t>
            </a:r>
          </a:p>
        </p:txBody>
      </p:sp>
      <p:sp>
        <p:nvSpPr>
          <p:cNvPr id="1584" name="Rectangle 1583"/>
          <p:cNvSpPr/>
          <p:nvPr/>
        </p:nvSpPr>
        <p:spPr>
          <a:xfrm>
            <a:off x="1780032" y="2560320"/>
            <a:ext cx="1341120" cy="841248"/>
          </a:xfrm>
          <a:prstGeom prst="rect">
            <a:avLst/>
          </a:prstGeom>
          <a:solidFill>
            <a:srgbClr val="F3E6D0"/>
          </a:solidFill>
          <a:ln w="9525">
            <a:solidFill>
              <a:srgbClr val="1A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5" name="TextBox 1584"/>
          <p:cNvSpPr txBox="1"/>
          <p:nvPr/>
        </p:nvSpPr>
        <p:spPr>
          <a:xfrm>
            <a:off x="1816608" y="2615184"/>
            <a:ext cx="1267967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lang="ru-RU">
                <a:solidFill>
                  <a:srgbClr val="0E3A40"/>
                </a:solidFill>
                <a:latin typeface="Arial"/>
              </a:rPr>
              <a:t>0,20</a:t>
            </a:r>
          </a:p>
        </p:txBody>
      </p:sp>
      <p:sp>
        <p:nvSpPr>
          <p:cNvPr id="1586" name="TextBox 1585"/>
          <p:cNvSpPr txBox="1"/>
          <p:nvPr/>
        </p:nvSpPr>
        <p:spPr>
          <a:xfrm>
            <a:off x="1816608" y="3035808"/>
            <a:ext cx="1267967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lang="ru-RU">
                <a:solidFill>
                  <a:srgbClr val="3E646C"/>
                </a:solidFill>
                <a:latin typeface="Arial"/>
              </a:rPr>
              <a:t>процедуры</a:t>
            </a:r>
          </a:p>
        </p:txBody>
      </p:sp>
      <p:sp>
        <p:nvSpPr>
          <p:cNvPr id="1587" name="Rectangle 1586"/>
          <p:cNvSpPr/>
          <p:nvPr/>
        </p:nvSpPr>
        <p:spPr>
          <a:xfrm>
            <a:off x="3194304" y="2560320"/>
            <a:ext cx="1341120" cy="841248"/>
          </a:xfrm>
          <a:prstGeom prst="rect">
            <a:avLst/>
          </a:prstGeom>
          <a:solidFill>
            <a:srgbClr val="F3E6D0"/>
          </a:solidFill>
          <a:ln w="9525">
            <a:solidFill>
              <a:srgbClr val="1A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8" name="TextBox 1587"/>
          <p:cNvSpPr txBox="1"/>
          <p:nvPr/>
        </p:nvSpPr>
        <p:spPr>
          <a:xfrm>
            <a:off x="3230880" y="2615184"/>
            <a:ext cx="1267967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lang="ru-RU">
                <a:solidFill>
                  <a:srgbClr val="0E3A40"/>
                </a:solidFill>
                <a:latin typeface="Arial"/>
              </a:rPr>
              <a:t>0,10</a:t>
            </a:r>
          </a:p>
        </p:txBody>
      </p:sp>
      <p:sp>
        <p:nvSpPr>
          <p:cNvPr id="1589" name="TextBox 1588"/>
          <p:cNvSpPr txBox="1"/>
          <p:nvPr/>
        </p:nvSpPr>
        <p:spPr>
          <a:xfrm>
            <a:off x="3230880" y="3035808"/>
            <a:ext cx="1267967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lang="ru-RU">
                <a:solidFill>
                  <a:srgbClr val="3E646C"/>
                </a:solidFill>
                <a:latin typeface="Arial"/>
              </a:rPr>
              <a:t>экскурсии</a:t>
            </a:r>
          </a:p>
        </p:txBody>
      </p:sp>
      <p:sp>
        <p:nvSpPr>
          <p:cNvPr id="1590" name="Rectangle 1589"/>
          <p:cNvSpPr/>
          <p:nvPr/>
        </p:nvSpPr>
        <p:spPr>
          <a:xfrm>
            <a:off x="4608576" y="2560320"/>
            <a:ext cx="1341120" cy="841248"/>
          </a:xfrm>
          <a:prstGeom prst="rect">
            <a:avLst/>
          </a:prstGeom>
          <a:solidFill>
            <a:srgbClr val="F3E6D0"/>
          </a:solidFill>
          <a:ln w="9525">
            <a:solidFill>
              <a:srgbClr val="1A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1" name="TextBox 1590"/>
          <p:cNvSpPr txBox="1"/>
          <p:nvPr/>
        </p:nvSpPr>
        <p:spPr>
          <a:xfrm>
            <a:off x="4645152" y="2615184"/>
            <a:ext cx="1267967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lang="ru-RU">
                <a:solidFill>
                  <a:srgbClr val="0E3A40"/>
                </a:solidFill>
                <a:latin typeface="Arial"/>
              </a:rPr>
              <a:t>0,10</a:t>
            </a:r>
          </a:p>
        </p:txBody>
      </p:sp>
      <p:sp>
        <p:nvSpPr>
          <p:cNvPr id="1592" name="TextBox 1591"/>
          <p:cNvSpPr txBox="1"/>
          <p:nvPr/>
        </p:nvSpPr>
        <p:spPr>
          <a:xfrm>
            <a:off x="4645152" y="3035808"/>
            <a:ext cx="1267967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lang="ru-RU">
                <a:solidFill>
                  <a:srgbClr val="3E646C"/>
                </a:solidFill>
                <a:latin typeface="Arial"/>
              </a:rPr>
              <a:t>транспорт</a:t>
            </a:r>
          </a:p>
        </p:txBody>
      </p:sp>
      <p:sp>
        <p:nvSpPr>
          <p:cNvPr id="1593" name="Rectangle 1592"/>
          <p:cNvSpPr/>
          <p:nvPr/>
        </p:nvSpPr>
        <p:spPr>
          <a:xfrm>
            <a:off x="6022848" y="2560320"/>
            <a:ext cx="1341120" cy="841248"/>
          </a:xfrm>
          <a:prstGeom prst="rect">
            <a:avLst/>
          </a:prstGeom>
          <a:solidFill>
            <a:srgbClr val="F3E6D0"/>
          </a:solidFill>
          <a:ln w="9525">
            <a:solidFill>
              <a:srgbClr val="1A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4" name="TextBox 1593"/>
          <p:cNvSpPr txBox="1"/>
          <p:nvPr/>
        </p:nvSpPr>
        <p:spPr>
          <a:xfrm>
            <a:off x="6059424" y="2615184"/>
            <a:ext cx="1267967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lang="ru-RU">
                <a:solidFill>
                  <a:srgbClr val="0E3A40"/>
                </a:solidFill>
                <a:latin typeface="Arial"/>
              </a:rPr>
              <a:t>0,10</a:t>
            </a:r>
          </a:p>
        </p:txBody>
      </p:sp>
      <p:sp>
        <p:nvSpPr>
          <p:cNvPr id="1595" name="TextBox 1594"/>
          <p:cNvSpPr txBox="1"/>
          <p:nvPr/>
        </p:nvSpPr>
        <p:spPr>
          <a:xfrm>
            <a:off x="6059424" y="3035808"/>
            <a:ext cx="1267967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lang="ru-RU">
                <a:solidFill>
                  <a:srgbClr val="3E646C"/>
                </a:solidFill>
                <a:latin typeface="Arial"/>
              </a:rPr>
              <a:t>цена</a:t>
            </a:r>
          </a:p>
        </p:txBody>
      </p:sp>
      <p:sp>
        <p:nvSpPr>
          <p:cNvPr id="1596" name="Rectangle 1595"/>
          <p:cNvSpPr/>
          <p:nvPr/>
        </p:nvSpPr>
        <p:spPr>
          <a:xfrm>
            <a:off x="7437120" y="2560320"/>
            <a:ext cx="1341120" cy="841248"/>
          </a:xfrm>
          <a:prstGeom prst="rect">
            <a:avLst/>
          </a:prstGeom>
          <a:solidFill>
            <a:srgbClr val="F3E6D0"/>
          </a:solidFill>
          <a:ln w="9525">
            <a:solidFill>
              <a:srgbClr val="1A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7" name="TextBox 1596"/>
          <p:cNvSpPr txBox="1"/>
          <p:nvPr/>
        </p:nvSpPr>
        <p:spPr>
          <a:xfrm>
            <a:off x="7473695" y="2615184"/>
            <a:ext cx="1267967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lang="ru-RU">
                <a:solidFill>
                  <a:srgbClr val="0E3A40"/>
                </a:solidFill>
                <a:latin typeface="Arial"/>
              </a:rPr>
              <a:t>0,05</a:t>
            </a:r>
          </a:p>
        </p:txBody>
      </p:sp>
      <p:sp>
        <p:nvSpPr>
          <p:cNvPr id="1598" name="TextBox 1597"/>
          <p:cNvSpPr txBox="1"/>
          <p:nvPr/>
        </p:nvSpPr>
        <p:spPr>
          <a:xfrm>
            <a:off x="7473695" y="3035808"/>
            <a:ext cx="1267967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lang="ru-RU">
                <a:solidFill>
                  <a:srgbClr val="3E646C"/>
                </a:solidFill>
                <a:latin typeface="Arial"/>
              </a:rPr>
              <a:t>рейтинг</a:t>
            </a:r>
          </a:p>
        </p:txBody>
      </p:sp>
      <p:sp>
        <p:nvSpPr>
          <p:cNvPr id="1599" name="Rectangle 1598"/>
          <p:cNvSpPr/>
          <p:nvPr/>
        </p:nvSpPr>
        <p:spPr>
          <a:xfrm>
            <a:off x="365760" y="3493008"/>
            <a:ext cx="84124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0" name="TextBox 1599"/>
          <p:cNvSpPr txBox="1"/>
          <p:nvPr/>
        </p:nvSpPr>
        <p:spPr>
          <a:xfrm>
            <a:off x="512064" y="3547872"/>
            <a:ext cx="8119872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lang="ru-RU">
                <a:solidFill>
                  <a:srgbClr val="0E3A40"/>
                </a:solidFill>
                <a:latin typeface="Arial"/>
              </a:rPr>
              <a:t>Порог 0,15. В выдаче не больше пяти площадок.</a:t>
            </a:r>
          </a:p>
        </p:txBody>
      </p:sp>
      <p:sp>
        <p:nvSpPr>
          <p:cNvPr id="1601" name="TextBox 1600"/>
          <p:cNvSpPr txBox="1"/>
          <p:nvPr/>
        </p:nvSpPr>
        <p:spPr>
          <a:xfrm>
            <a:off x="822960" y="4773168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 lang="ru-RU">
                <a:solidFill>
                  <a:srgbClr val="3E646C"/>
                </a:solidFill>
                <a:latin typeface="Arial"/>
              </a:rPr>
              <a:t>sanatorium_planner   ·   4 / 7</a:t>
            </a:r>
          </a:p>
        </p:txBody>
      </p:sp>
      <p:pic>
        <p:nvPicPr>
          <p:cNvPr id="1602" name="Picture 1601" descr="s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p38"/>
          <p:cNvSpPr txBox="1"/>
          <p:nvPr>
            <p:ph type="title"/>
          </p:nvPr>
        </p:nvSpPr>
        <p:spPr>
          <a:xfrm>
            <a:off x="713225" y="140225"/>
            <a:ext cx="7717800" cy="413100"/>
          </a:xfrm>
          <a:prstGeom prst="rect">
            <a:avLst/>
          </a:prstGeom>
        </p:spPr>
        <p:txBody>
          <a:bodyPr anchorCtr="0" anchor="t" bIns="20000" lIns="91425" spcFirstLastPara="1" rIns="91425" wrap="none" tIns="2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600" b="1" lang="ru-RU">
                <a:solidFill>
                  <a:srgbClr val="0E3A40"/>
                </a:solidFill>
                <a:latin typeface="Arial"/>
              </a:rPr>
              <a:t>Учреждение и его площадки</a:t>
            </a:r>
            <a:endParaRPr/>
          </a:p>
        </p:txBody>
      </p:sp>
      <p:sp>
        <p:nvSpPr>
          <p:cNvPr id="1558" name="Rectangle 1557"/>
          <p:cNvSpPr/>
          <p:nvPr/>
        </p:nvSpPr>
        <p:spPr>
          <a:xfrm>
            <a:off x="365760" y="713232"/>
            <a:ext cx="306324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1A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9" name="Rectangle 1558"/>
          <p:cNvSpPr/>
          <p:nvPr/>
        </p:nvSpPr>
        <p:spPr>
          <a:xfrm>
            <a:off x="365760" y="713232"/>
            <a:ext cx="3063240" cy="365760"/>
          </a:xfrm>
          <a:prstGeom prst="rect">
            <a:avLst/>
          </a:prstGeom>
          <a:solidFill>
            <a:srgbClr val="0E4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0" name="TextBox 1559"/>
          <p:cNvSpPr txBox="1"/>
          <p:nvPr/>
        </p:nvSpPr>
        <p:spPr>
          <a:xfrm>
            <a:off x="475488" y="76809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lang="ru-RU">
                <a:solidFill>
                  <a:srgbClr val="FFFFFF"/>
                </a:solidFill>
                <a:latin typeface="Arial"/>
              </a:rPr>
              <a:t>Учреждение</a:t>
            </a:r>
          </a:p>
        </p:txBody>
      </p:sp>
      <p:sp>
        <p:nvSpPr>
          <p:cNvPr id="1561" name="TextBox 1560"/>
          <p:cNvSpPr txBox="1"/>
          <p:nvPr/>
        </p:nvSpPr>
        <p:spPr>
          <a:xfrm>
            <a:off x="493776" y="1188720"/>
            <a:ext cx="2816352" cy="2606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lang="ru-RU">
                <a:solidFill>
                  <a:srgbClr val="0E3A40"/>
                </a:solidFill>
                <a:latin typeface="Arial"/>
              </a:rPr>
              <a:t>Санаторий «Борок»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lang="ru-RU">
                <a:solidFill>
                  <a:srgbClr val="0E3A40"/>
                </a:solidFill>
                <a:latin typeface="Arial"/>
              </a:rPr>
              <a:t>Имя уникально. Профиль — сердце и сосуды.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lang="ru-RU">
                <a:solidFill>
                  <a:srgbClr val="0E3A40"/>
                </a:solidFill>
                <a:latin typeface="Arial"/>
              </a:rPr>
              <a:t>Одно описание на все корпуса.</a:t>
            </a:r>
          </a:p>
        </p:txBody>
      </p:sp>
      <p:sp>
        <p:nvSpPr>
          <p:cNvPr id="1562" name="Rectangle 1561"/>
          <p:cNvSpPr/>
          <p:nvPr/>
        </p:nvSpPr>
        <p:spPr>
          <a:xfrm>
            <a:off x="4434840" y="713232"/>
            <a:ext cx="434340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1A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3" name="Rectangle 1562"/>
          <p:cNvSpPr/>
          <p:nvPr/>
        </p:nvSpPr>
        <p:spPr>
          <a:xfrm>
            <a:off x="4434840" y="713232"/>
            <a:ext cx="91440" cy="1572768"/>
          </a:xfrm>
          <a:prstGeom prst="rect">
            <a:avLst/>
          </a:prstGeom>
          <a:solidFill>
            <a:srgbClr val="C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4" name="TextBox 1563"/>
          <p:cNvSpPr txBox="1"/>
          <p:nvPr/>
        </p:nvSpPr>
        <p:spPr>
          <a:xfrm>
            <a:off x="4645152" y="786384"/>
            <a:ext cx="4023360" cy="1417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lang="ru-RU">
                <a:solidFill>
                  <a:srgbClr val="1A5F6E"/>
                </a:solidFill>
                <a:latin typeface="Arial"/>
              </a:rPr>
              <a:t>Площадка 1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lang="ru-RU">
                <a:solidFill>
                  <a:srgbClr val="0E3A40"/>
                </a:solidFill>
                <a:latin typeface="Arial"/>
              </a:rPr>
              <a:t>посёлок Борок, корпус 1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lang="ru-RU">
                <a:solidFill>
                  <a:srgbClr val="0E3A40"/>
                </a:solidFill>
                <a:latin typeface="Arial"/>
              </a:rPr>
              <a:t>Транспорт 4  ·  3 200–8 900 руб.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lang="ru-RU">
                <a:solidFill>
                  <a:srgbClr val="0E3A40"/>
                </a:solidFill>
                <a:latin typeface="Arial"/>
              </a:rPr>
              <a:t>Круглый год  ·  доступна  ·  рейтинг 4</a:t>
            </a:r>
          </a:p>
        </p:txBody>
      </p:sp>
      <p:sp>
        <p:nvSpPr>
          <p:cNvPr id="1565" name="Rectangle 1564"/>
          <p:cNvSpPr/>
          <p:nvPr/>
        </p:nvSpPr>
        <p:spPr>
          <a:xfrm>
            <a:off x="4434840" y="2404872"/>
            <a:ext cx="434340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1A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6" name="Rectangle 1565"/>
          <p:cNvSpPr/>
          <p:nvPr/>
        </p:nvSpPr>
        <p:spPr>
          <a:xfrm>
            <a:off x="4434840" y="2404872"/>
            <a:ext cx="91440" cy="1572768"/>
          </a:xfrm>
          <a:prstGeom prst="rect">
            <a:avLst/>
          </a:prstGeom>
          <a:solidFill>
            <a:srgbClr val="C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7" name="TextBox 1566"/>
          <p:cNvSpPr txBox="1"/>
          <p:nvPr/>
        </p:nvSpPr>
        <p:spPr>
          <a:xfrm>
            <a:off x="4645152" y="2478024"/>
            <a:ext cx="4023360" cy="1417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lang="ru-RU">
                <a:solidFill>
                  <a:srgbClr val="1A5F6E"/>
                </a:solidFill>
                <a:latin typeface="Arial"/>
              </a:rPr>
              <a:t>Площадка 2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lang="ru-RU">
                <a:solidFill>
                  <a:srgbClr val="0E3A40"/>
                </a:solidFill>
                <a:latin typeface="Arial"/>
              </a:rPr>
              <a:t>посёлок Борок, корпус 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lang="ru-RU">
                <a:solidFill>
                  <a:srgbClr val="0E3A40"/>
                </a:solidFill>
                <a:latin typeface="Arial"/>
              </a:rPr>
              <a:t>Транспорт 3  ·  2 800–7 200 руб.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lang="ru-RU">
                <a:solidFill>
                  <a:srgbClr val="0E3A40"/>
                </a:solidFill>
                <a:latin typeface="Arial"/>
              </a:rPr>
              <a:t>Круглый год  ·  доступна  ·  рейтинг 3</a:t>
            </a:r>
          </a:p>
        </p:txBody>
      </p:sp>
      <p:sp>
        <p:nvSpPr>
          <p:cNvPr id="1568" name="Rectangle 1567"/>
          <p:cNvSpPr/>
          <p:nvPr/>
        </p:nvSpPr>
        <p:spPr>
          <a:xfrm>
            <a:off x="3429000" y="2320607"/>
            <a:ext cx="429767" cy="22225"/>
          </a:xfrm>
          <a:prstGeom prst="rect">
            <a:avLst/>
          </a:prstGeom>
          <a:solidFill>
            <a:srgbClr val="1A5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9" name="Rectangle 1568"/>
          <p:cNvSpPr/>
          <p:nvPr/>
        </p:nvSpPr>
        <p:spPr>
          <a:xfrm>
            <a:off x="3847655" y="1499616"/>
            <a:ext cx="22225" cy="1691640"/>
          </a:xfrm>
          <a:prstGeom prst="rect">
            <a:avLst/>
          </a:prstGeom>
          <a:solidFill>
            <a:srgbClr val="1A5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0" name="Rectangle 1569"/>
          <p:cNvSpPr/>
          <p:nvPr/>
        </p:nvSpPr>
        <p:spPr>
          <a:xfrm>
            <a:off x="3858768" y="1488503"/>
            <a:ext cx="576071" cy="22225"/>
          </a:xfrm>
          <a:prstGeom prst="rect">
            <a:avLst/>
          </a:prstGeom>
          <a:solidFill>
            <a:srgbClr val="1A5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1" name="Rectangle 1570"/>
          <p:cNvSpPr/>
          <p:nvPr/>
        </p:nvSpPr>
        <p:spPr>
          <a:xfrm>
            <a:off x="3858768" y="3180143"/>
            <a:ext cx="576071" cy="22225"/>
          </a:xfrm>
          <a:prstGeom prst="rect">
            <a:avLst/>
          </a:prstGeom>
          <a:solidFill>
            <a:srgbClr val="1A5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2" name="Oval 1571"/>
          <p:cNvSpPr/>
          <p:nvPr/>
        </p:nvSpPr>
        <p:spPr>
          <a:xfrm>
            <a:off x="3374136" y="2276856"/>
            <a:ext cx="109728" cy="109728"/>
          </a:xfrm>
          <a:prstGeom prst="ellipse">
            <a:avLst/>
          </a:prstGeom>
          <a:solidFill>
            <a:srgbClr val="C4A574"/>
          </a:solidFill>
          <a:ln w="9525">
            <a:solidFill>
              <a:srgbClr val="1A5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3" name="Oval 1572"/>
          <p:cNvSpPr/>
          <p:nvPr/>
        </p:nvSpPr>
        <p:spPr>
          <a:xfrm>
            <a:off x="3803904" y="1444751"/>
            <a:ext cx="109728" cy="109728"/>
          </a:xfrm>
          <a:prstGeom prst="ellipse">
            <a:avLst/>
          </a:prstGeom>
          <a:solidFill>
            <a:srgbClr val="C4A574"/>
          </a:solidFill>
          <a:ln w="9525">
            <a:solidFill>
              <a:srgbClr val="1A5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4" name="Oval 1573"/>
          <p:cNvSpPr/>
          <p:nvPr/>
        </p:nvSpPr>
        <p:spPr>
          <a:xfrm>
            <a:off x="3803904" y="3136392"/>
            <a:ext cx="109728" cy="109728"/>
          </a:xfrm>
          <a:prstGeom prst="ellipse">
            <a:avLst/>
          </a:prstGeom>
          <a:solidFill>
            <a:srgbClr val="C4A574"/>
          </a:solidFill>
          <a:ln w="9525">
            <a:solidFill>
              <a:srgbClr val="1A5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5" name="Rectangle 1574"/>
          <p:cNvSpPr/>
          <p:nvPr/>
        </p:nvSpPr>
        <p:spPr>
          <a:xfrm>
            <a:off x="365760" y="4096512"/>
            <a:ext cx="8412480" cy="566928"/>
          </a:xfrm>
          <a:prstGeom prst="rect">
            <a:avLst/>
          </a:prstGeom>
          <a:solidFill>
            <a:srgbClr val="F3E6D0"/>
          </a:solidFill>
          <a:ln w="9525">
            <a:solidFill>
              <a:srgbClr val="1A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6" name="TextBox 1575"/>
          <p:cNvSpPr txBox="1"/>
          <p:nvPr/>
        </p:nvSpPr>
        <p:spPr>
          <a:xfrm>
            <a:off x="493776" y="4151376"/>
            <a:ext cx="8156448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lang="ru-RU">
                <a:solidFill>
                  <a:srgbClr val="0E3A40"/>
                </a:solidFill>
                <a:latin typeface="Arial"/>
              </a:rPr>
              <a:t>Пара «учреждение + адрес» уникальна. Процедуры и экскурсии — текст площадки.</a:t>
            </a:r>
          </a:p>
        </p:txBody>
      </p:sp>
      <p:sp>
        <p:nvSpPr>
          <p:cNvPr id="1577" name="TextBox 1576"/>
          <p:cNvSpPr txBox="1"/>
          <p:nvPr/>
        </p:nvSpPr>
        <p:spPr>
          <a:xfrm>
            <a:off x="822960" y="4773168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 lang="ru-RU">
                <a:solidFill>
                  <a:srgbClr val="3E646C"/>
                </a:solidFill>
                <a:latin typeface="Arial"/>
              </a:rPr>
              <a:t>sanatorium_planner   ·   5 / 7</a:t>
            </a:r>
          </a:p>
        </p:txBody>
      </p:sp>
      <p:pic>
        <p:nvPicPr>
          <p:cNvPr id="1578" name="Picture 1577" descr="s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p38"/>
          <p:cNvSpPr txBox="1"/>
          <p:nvPr>
            <p:ph type="title"/>
          </p:nvPr>
        </p:nvSpPr>
        <p:spPr>
          <a:xfrm>
            <a:off x="713225" y="140225"/>
            <a:ext cx="7717800" cy="413100"/>
          </a:xfrm>
          <a:prstGeom prst="rect">
            <a:avLst/>
          </a:prstGeom>
        </p:spPr>
        <p:txBody>
          <a:bodyPr anchorCtr="0" anchor="t" bIns="20000" lIns="91425" spcFirstLastPara="1" rIns="91425" wrap="none" tIns="2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600" b="1" lang="ru-RU">
                <a:solidFill>
                  <a:srgbClr val="0E3A40"/>
                </a:solidFill>
                <a:latin typeface="Arial"/>
              </a:rPr>
              <a:t>Демо Калужской области</a:t>
            </a:r>
            <a:endParaRPr/>
          </a:p>
        </p:txBody>
      </p:sp>
      <p:sp>
        <p:nvSpPr>
          <p:cNvPr id="1558" name="Rectangle 1557"/>
          <p:cNvSpPr/>
          <p:nvPr/>
        </p:nvSpPr>
        <p:spPr>
          <a:xfrm>
            <a:off x="365760" y="676656"/>
            <a:ext cx="41605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1A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9" name="Rectangle 1558"/>
          <p:cNvSpPr/>
          <p:nvPr/>
        </p:nvSpPr>
        <p:spPr>
          <a:xfrm>
            <a:off x="365760" y="676656"/>
            <a:ext cx="4160520" cy="292608"/>
          </a:xfrm>
          <a:prstGeom prst="rect">
            <a:avLst/>
          </a:prstGeom>
          <a:solidFill>
            <a:srgbClr val="F3E6D0"/>
          </a:solidFill>
          <a:ln w="9525">
            <a:solidFill>
              <a:srgbClr val="1A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0" name="TextBox 1559"/>
          <p:cNvSpPr txBox="1"/>
          <p:nvPr/>
        </p:nvSpPr>
        <p:spPr>
          <a:xfrm>
            <a:off x="457200" y="694944"/>
            <a:ext cx="3977639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ru-RU">
                <a:solidFill>
                  <a:srgbClr val="0E3A40"/>
                </a:solidFill>
                <a:latin typeface="Arial"/>
              </a:rPr>
              <a:t>«Борок»  ·  сердце и сосуды</a:t>
            </a:r>
          </a:p>
        </p:txBody>
      </p:sp>
      <p:sp>
        <p:nvSpPr>
          <p:cNvPr id="1561" name="TextBox 1560"/>
          <p:cNvSpPr txBox="1"/>
          <p:nvPr/>
        </p:nvSpPr>
        <p:spPr>
          <a:xfrm>
            <a:off x="457200" y="1024128"/>
            <a:ext cx="3977639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lang="ru-RU">
                <a:solidFill>
                  <a:srgbClr val="0E3A40"/>
                </a:solidFill>
                <a:latin typeface="Arial"/>
              </a:rPr>
              <a:t>Корпус 1   транспорт 4   3 200–8 900 руб.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lang="ru-RU">
                <a:solidFill>
                  <a:srgbClr val="0E3A40"/>
                </a:solidFill>
                <a:latin typeface="Arial"/>
              </a:rPr>
              <a:t>Корпус 2   транспорт 3   2 800–7 200 руб.</a:t>
            </a:r>
          </a:p>
        </p:txBody>
      </p:sp>
      <p:sp>
        <p:nvSpPr>
          <p:cNvPr id="1562" name="Rectangle 1561"/>
          <p:cNvSpPr/>
          <p:nvPr/>
        </p:nvSpPr>
        <p:spPr>
          <a:xfrm>
            <a:off x="365760" y="1975104"/>
            <a:ext cx="41605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1A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3" name="Rectangle 1562"/>
          <p:cNvSpPr/>
          <p:nvPr/>
        </p:nvSpPr>
        <p:spPr>
          <a:xfrm>
            <a:off x="365760" y="1975104"/>
            <a:ext cx="4160520" cy="292608"/>
          </a:xfrm>
          <a:prstGeom prst="rect">
            <a:avLst/>
          </a:prstGeom>
          <a:solidFill>
            <a:srgbClr val="F3E6D0"/>
          </a:solidFill>
          <a:ln w="9525">
            <a:solidFill>
              <a:srgbClr val="1A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4" name="TextBox 1563"/>
          <p:cNvSpPr txBox="1"/>
          <p:nvPr/>
        </p:nvSpPr>
        <p:spPr>
          <a:xfrm>
            <a:off x="457200" y="1993392"/>
            <a:ext cx="3977639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ru-RU">
                <a:solidFill>
                  <a:srgbClr val="0E3A40"/>
                </a:solidFill>
                <a:latin typeface="Arial"/>
              </a:rPr>
              <a:t>«Угловское»  ·  суставы</a:t>
            </a:r>
          </a:p>
        </p:txBody>
      </p:sp>
      <p:sp>
        <p:nvSpPr>
          <p:cNvPr id="1565" name="TextBox 1564"/>
          <p:cNvSpPr txBox="1"/>
          <p:nvPr/>
        </p:nvSpPr>
        <p:spPr>
          <a:xfrm>
            <a:off x="457200" y="2322576"/>
            <a:ext cx="3977639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lang="ru-RU">
                <a:solidFill>
                  <a:srgbClr val="0E3A40"/>
                </a:solidFill>
                <a:latin typeface="Arial"/>
              </a:rPr>
              <a:t>Корпус   транспорт 4   2 900–7 800 руб.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lang="ru-RU">
                <a:solidFill>
                  <a:srgbClr val="0E3A40"/>
                </a:solidFill>
                <a:latin typeface="Arial"/>
              </a:rPr>
              <a:t>Домик в лесу   транспорт 2   4 500–11 200 руб.</a:t>
            </a:r>
          </a:p>
        </p:txBody>
      </p:sp>
      <p:sp>
        <p:nvSpPr>
          <p:cNvPr id="1566" name="Rectangle 1565"/>
          <p:cNvSpPr/>
          <p:nvPr/>
        </p:nvSpPr>
        <p:spPr>
          <a:xfrm>
            <a:off x="365760" y="3273552"/>
            <a:ext cx="41605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1A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7" name="Rectangle 1566"/>
          <p:cNvSpPr/>
          <p:nvPr/>
        </p:nvSpPr>
        <p:spPr>
          <a:xfrm>
            <a:off x="365760" y="3273552"/>
            <a:ext cx="4160520" cy="292608"/>
          </a:xfrm>
          <a:prstGeom prst="rect">
            <a:avLst/>
          </a:prstGeom>
          <a:solidFill>
            <a:srgbClr val="F3E6D0"/>
          </a:solidFill>
          <a:ln w="9525">
            <a:solidFill>
              <a:srgbClr val="1A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8" name="TextBox 1567"/>
          <p:cNvSpPr txBox="1"/>
          <p:nvPr/>
        </p:nvSpPr>
        <p:spPr>
          <a:xfrm>
            <a:off x="457200" y="3291840"/>
            <a:ext cx="3977639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ru-RU">
                <a:solidFill>
                  <a:srgbClr val="0E3A40"/>
                </a:solidFill>
                <a:latin typeface="Arial"/>
              </a:rPr>
              <a:t>«Ока»  ·  нервная система</a:t>
            </a:r>
          </a:p>
        </p:txBody>
      </p:sp>
      <p:sp>
        <p:nvSpPr>
          <p:cNvPr id="1569" name="TextBox 1568"/>
          <p:cNvSpPr txBox="1"/>
          <p:nvPr/>
        </p:nvSpPr>
        <p:spPr>
          <a:xfrm>
            <a:off x="457200" y="3621024"/>
            <a:ext cx="3977639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lang="ru-RU">
                <a:solidFill>
                  <a:srgbClr val="0E3A40"/>
                </a:solidFill>
                <a:latin typeface="Arial"/>
              </a:rPr>
              <a:t>Корпус   транспорт 5   4 800–14 500 руб.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lang="ru-RU">
                <a:solidFill>
                  <a:srgbClr val="0E3A40"/>
                </a:solidFill>
                <a:latin typeface="Arial"/>
              </a:rPr>
              <a:t>VIP-корпус   транспорт 4   8 900–22 500 руб.</a:t>
            </a:r>
          </a:p>
        </p:txBody>
      </p:sp>
      <p:sp>
        <p:nvSpPr>
          <p:cNvPr id="1570" name="Rectangle 1569"/>
          <p:cNvSpPr/>
          <p:nvPr/>
        </p:nvSpPr>
        <p:spPr>
          <a:xfrm>
            <a:off x="4681728" y="676656"/>
            <a:ext cx="409651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1A5F6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1" name="TextBox 1570"/>
          <p:cNvSpPr txBox="1"/>
          <p:nvPr/>
        </p:nvSpPr>
        <p:spPr>
          <a:xfrm>
            <a:off x="4828032" y="932688"/>
            <a:ext cx="3803904" cy="1371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lang="ru-RU">
                <a:solidFill>
                  <a:srgbClr val="1A5F6E"/>
                </a:solidFill>
                <a:latin typeface="Arial"/>
              </a:rPr>
              <a:t>Форма поиска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lang="ru-RU">
                <a:solidFill>
                  <a:srgbClr val="3E646C"/>
                </a:solidFill>
                <a:latin typeface="Arial"/>
              </a:rPr>
              <a:t>Сюда скриншот: бюджет, регион, текст, процедуры, экскурсии.</a:t>
            </a:r>
          </a:p>
        </p:txBody>
      </p:sp>
      <p:sp>
        <p:nvSpPr>
          <p:cNvPr id="1572" name="Rectangle 1571"/>
          <p:cNvSpPr/>
          <p:nvPr/>
        </p:nvSpPr>
        <p:spPr>
          <a:xfrm>
            <a:off x="4681728" y="2633472"/>
            <a:ext cx="409651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1A5F6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3" name="TextBox 1572"/>
          <p:cNvSpPr txBox="1"/>
          <p:nvPr/>
        </p:nvSpPr>
        <p:spPr>
          <a:xfrm>
            <a:off x="4828032" y="2889504"/>
            <a:ext cx="3803904" cy="1371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lang="ru-RU">
                <a:solidFill>
                  <a:srgbClr val="1A5F6E"/>
                </a:solidFill>
                <a:latin typeface="Arial"/>
              </a:rPr>
              <a:t>Выдача и карта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lang="ru-RU">
                <a:solidFill>
                  <a:srgbClr val="3E646C"/>
                </a:solidFill>
                <a:latin typeface="Arial"/>
              </a:rPr>
              <a:t>Сюда скриншот: карта, карточки, цена и пояснение.</a:t>
            </a:r>
          </a:p>
        </p:txBody>
      </p:sp>
      <p:sp>
        <p:nvSpPr>
          <p:cNvPr id="1574" name="Rectangle 1573"/>
          <p:cNvSpPr/>
          <p:nvPr/>
        </p:nvSpPr>
        <p:spPr>
          <a:xfrm>
            <a:off x="365760" y="4553712"/>
            <a:ext cx="8412480" cy="2011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5" name="TextBox 1574"/>
          <p:cNvSpPr txBox="1"/>
          <p:nvPr/>
        </p:nvSpPr>
        <p:spPr>
          <a:xfrm>
            <a:off x="1051560" y="4553712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ru-RU">
                <a:solidFill>
                  <a:srgbClr val="3E646C"/>
                </a:solidFill>
                <a:latin typeface="Arial"/>
              </a:rPr>
              <a:t>25 площадок  ·  20 учреждений  ·  5 учреждений с двумя адресами</a:t>
            </a:r>
          </a:p>
        </p:txBody>
      </p:sp>
      <p:sp>
        <p:nvSpPr>
          <p:cNvPr id="1576" name="TextBox 1575"/>
          <p:cNvSpPr txBox="1"/>
          <p:nvPr/>
        </p:nvSpPr>
        <p:spPr>
          <a:xfrm>
            <a:off x="822960" y="4773168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 lang="ru-RU">
                <a:solidFill>
                  <a:srgbClr val="3E646C"/>
                </a:solidFill>
                <a:latin typeface="Arial"/>
              </a:rPr>
              <a:t>sanatorium_planner   ·   6 / 7</a:t>
            </a:r>
          </a:p>
        </p:txBody>
      </p:sp>
      <p:pic>
        <p:nvPicPr>
          <p:cNvPr id="1577" name="Picture 1576" descr="s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p38"/>
          <p:cNvSpPr txBox="1"/>
          <p:nvPr>
            <p:ph type="title"/>
          </p:nvPr>
        </p:nvSpPr>
        <p:spPr>
          <a:xfrm>
            <a:off x="713225" y="140225"/>
            <a:ext cx="7717800" cy="413100"/>
          </a:xfrm>
          <a:prstGeom prst="rect">
            <a:avLst/>
          </a:prstGeom>
        </p:spPr>
        <p:txBody>
          <a:bodyPr anchorCtr="0" anchor="t" bIns="20000" lIns="91425" spcFirstLastPara="1" rIns="91425" wrap="none" tIns="2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600" b="1" lang="ru-RU">
                <a:solidFill>
                  <a:srgbClr val="0E3A40"/>
                </a:solidFill>
                <a:latin typeface="Arial"/>
              </a:rPr>
              <a:t>Пять площадок и маршрут</a:t>
            </a:r>
            <a:endParaRPr/>
          </a:p>
        </p:txBody>
      </p:sp>
      <p:sp>
        <p:nvSpPr>
          <p:cNvPr id="1558" name="Rectangle 1557"/>
          <p:cNvSpPr/>
          <p:nvPr/>
        </p:nvSpPr>
        <p:spPr>
          <a:xfrm>
            <a:off x="365760" y="768096"/>
            <a:ext cx="2706623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1A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9" name="Rectangle 1558"/>
          <p:cNvSpPr/>
          <p:nvPr/>
        </p:nvSpPr>
        <p:spPr>
          <a:xfrm>
            <a:off x="365760" y="768096"/>
            <a:ext cx="2706623" cy="91440"/>
          </a:xfrm>
          <a:prstGeom prst="rect">
            <a:avLst/>
          </a:prstGeom>
          <a:solidFill>
            <a:srgbClr val="C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0" name="TextBox 1559"/>
          <p:cNvSpPr txBox="1"/>
          <p:nvPr/>
        </p:nvSpPr>
        <p:spPr>
          <a:xfrm>
            <a:off x="493776" y="987552"/>
            <a:ext cx="2450591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lang="ru-RU">
                <a:solidFill>
                  <a:srgbClr val="0E3A40"/>
                </a:solidFill>
                <a:latin typeface="Arial"/>
              </a:rPr>
              <a:t>Порог, потом смысл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lang="ru-RU">
                <a:solidFill>
                  <a:srgbClr val="0E3A40"/>
                </a:solidFill>
                <a:latin typeface="Arial"/>
              </a:rPr>
              <a:t>Сначала бюджет и адрес, затем смысл запроса.</a:t>
            </a:r>
          </a:p>
        </p:txBody>
      </p:sp>
      <p:sp>
        <p:nvSpPr>
          <p:cNvPr id="1561" name="Rectangle 1560"/>
          <p:cNvSpPr/>
          <p:nvPr/>
        </p:nvSpPr>
        <p:spPr>
          <a:xfrm>
            <a:off x="3218687" y="768096"/>
            <a:ext cx="2706623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1A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2" name="Rectangle 1561"/>
          <p:cNvSpPr/>
          <p:nvPr/>
        </p:nvSpPr>
        <p:spPr>
          <a:xfrm>
            <a:off x="3218687" y="768096"/>
            <a:ext cx="2706623" cy="91440"/>
          </a:xfrm>
          <a:prstGeom prst="rect">
            <a:avLst/>
          </a:prstGeom>
          <a:solidFill>
            <a:srgbClr val="C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3" name="TextBox 1562"/>
          <p:cNvSpPr txBox="1"/>
          <p:nvPr/>
        </p:nvSpPr>
        <p:spPr>
          <a:xfrm>
            <a:off x="3346703" y="987552"/>
            <a:ext cx="2450591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lang="ru-RU">
                <a:solidFill>
                  <a:srgbClr val="0E3A40"/>
                </a:solidFill>
                <a:latin typeface="Arial"/>
              </a:rPr>
              <a:t>Карточка площадки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lang="ru-RU">
                <a:solidFill>
                  <a:srgbClr val="0E3A40"/>
                </a:solidFill>
                <a:latin typeface="Arial"/>
              </a:rPr>
              <a:t>Несколько адресов одного учреждения остаются разными.</a:t>
            </a:r>
          </a:p>
        </p:txBody>
      </p:sp>
      <p:sp>
        <p:nvSpPr>
          <p:cNvPr id="1564" name="Rectangle 1563"/>
          <p:cNvSpPr/>
          <p:nvPr/>
        </p:nvSpPr>
        <p:spPr>
          <a:xfrm>
            <a:off x="6071616" y="768096"/>
            <a:ext cx="2706623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1A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5" name="Rectangle 1564"/>
          <p:cNvSpPr/>
          <p:nvPr/>
        </p:nvSpPr>
        <p:spPr>
          <a:xfrm>
            <a:off x="6071616" y="768096"/>
            <a:ext cx="2706623" cy="91440"/>
          </a:xfrm>
          <a:prstGeom prst="rect">
            <a:avLst/>
          </a:prstGeom>
          <a:solidFill>
            <a:srgbClr val="C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6" name="TextBox 1565"/>
          <p:cNvSpPr txBox="1"/>
          <p:nvPr/>
        </p:nvSpPr>
        <p:spPr>
          <a:xfrm>
            <a:off x="6199631" y="987552"/>
            <a:ext cx="2450591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lang="ru-RU">
                <a:solidFill>
                  <a:srgbClr val="0E3A40"/>
                </a:solidFill>
                <a:latin typeface="Arial"/>
              </a:rPr>
              <a:t>Свой маршрут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lang="ru-RU">
                <a:solidFill>
                  <a:srgbClr val="0E3A40"/>
                </a:solidFill>
                <a:latin typeface="Arial"/>
              </a:rPr>
              <a:t>OpenRouter пишет пояснение и текст плана.</a:t>
            </a:r>
          </a:p>
        </p:txBody>
      </p:sp>
      <p:sp>
        <p:nvSpPr>
          <p:cNvPr id="1567" name="Rectangle 1566"/>
          <p:cNvSpPr/>
          <p:nvPr/>
        </p:nvSpPr>
        <p:spPr>
          <a:xfrm>
            <a:off x="365760" y="2505456"/>
            <a:ext cx="8412480" cy="1417320"/>
          </a:xfrm>
          <a:prstGeom prst="rect">
            <a:avLst/>
          </a:prstGeom>
          <a:solidFill>
            <a:srgbClr val="F3E6D0"/>
          </a:solidFill>
          <a:ln w="9525">
            <a:solidFill>
              <a:srgbClr val="1A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68" name="Picture 1567" descr="s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670048"/>
            <a:ext cx="1051560" cy="1051560"/>
          </a:xfrm>
          <a:prstGeom prst="rect">
            <a:avLst/>
          </a:prstGeom>
        </p:spPr>
      </p:pic>
      <p:sp>
        <p:nvSpPr>
          <p:cNvPr id="1569" name="TextBox 1568"/>
          <p:cNvSpPr txBox="1"/>
          <p:nvPr/>
        </p:nvSpPr>
        <p:spPr>
          <a:xfrm>
            <a:off x="1920240" y="2633472"/>
            <a:ext cx="6629400" cy="11704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lang="ru-RU">
                <a:solidFill>
                  <a:srgbClr val="0E3A40"/>
                </a:solidFill>
                <a:latin typeface="Arial"/>
              </a:rPr>
              <a:t>Проверка на защите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lang="ru-RU">
                <a:solidFill>
                  <a:srgbClr val="0E3A40"/>
                </a:solidFill>
                <a:latin typeface="Arial"/>
              </a:rPr>
              <a:t>Бюджет 8 000 руб., регион «Калужская».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lang="ru-RU">
                <a:solidFill>
                  <a:srgbClr val="0E3A40"/>
                </a:solidFill>
                <a:latin typeface="Arial"/>
              </a:rPr>
              <a:t>У «Борка» — два адреса и две цены.</a:t>
            </a:r>
          </a:p>
        </p:txBody>
      </p:sp>
      <p:sp>
        <p:nvSpPr>
          <p:cNvPr id="1570" name="TextBox 1569"/>
          <p:cNvSpPr txBox="1"/>
          <p:nvPr/>
        </p:nvSpPr>
        <p:spPr>
          <a:xfrm>
            <a:off x="822960" y="4773168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 lang="ru-RU">
                <a:solidFill>
                  <a:srgbClr val="3E646C"/>
                </a:solidFill>
                <a:latin typeface="Arial"/>
              </a:rPr>
              <a:t>sanatorium_planner   ·   7 / 7</a:t>
            </a:r>
          </a:p>
        </p:txBody>
      </p:sp>
      <p:pic>
        <p:nvPicPr>
          <p:cNvPr id="1571" name="Picture 1570" descr="s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y Travel Planner by Slidesgo">
  <a:themeElements>
    <a:clrScheme name="Simple Light">
      <a:dk1>
        <a:srgbClr val="0E3A40"/>
      </a:dk1>
      <a:lt1>
        <a:srgbClr val="0E4A52"/>
      </a:lt1>
      <a:dk2>
        <a:srgbClr val="F6EFE3"/>
      </a:dk2>
      <a:lt2>
        <a:srgbClr val="FFFFFF"/>
      </a:lt2>
      <a:accent1>
        <a:srgbClr val="1A5F6E"/>
      </a:accent1>
      <a:accent2>
        <a:srgbClr val="0E4A52"/>
      </a:accent2>
      <a:accent3>
        <a:srgbClr val="C4A574"/>
      </a:accent3>
      <a:accent4>
        <a:srgbClr val="E4C9A0"/>
      </a:accent4>
      <a:accent5>
        <a:srgbClr val="1C3F46"/>
      </a:accent5>
      <a:accent6>
        <a:srgbClr val="F3E6D0"/>
      </a:accent6>
      <a:hlink>
        <a:srgbClr val="1A5F6E"/>
      </a:hlink>
      <a:folHlink>
        <a:srgbClr val="0E4A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Планировщик санаториев</dc:title>
  <cp:lastModifiedBy>python-pptx</cp:lastModifiedBy>
  <cp:revision>1</cp:revision>
  <dcterms:modified xsi:type="dcterms:W3CDTF">2026-10-09T10:07:53Z</dcterms:modified>
  <dc:subject>Подбор и планирование курортно-санаторного отдыха</dc:subject>
  <cp:category>sanatorium_planner</cp:category>
</cp:coreProperties>
</file>